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FE6E1"/>
                </a:solidFill>
                <a:latin typeface="Calibri"/>
              </a:rPr>
              <a:t>CONFIDENTIAL BOARD MATERIAL  ·  PREPARED BY LIFETIME OY FOR KEMIRA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Carbon compliance as 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sovereign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7F2EF"/>
                </a:solidFill>
                <a:latin typeface="Calibri"/>
              </a:rPr>
              <a:t>A board business case for </a:t>
            </a:r>
            <a:r>
              <a:rPr sz="1800" b="1">
                <a:solidFill>
                  <a:srgbClr val="FFFFFF"/>
                </a:solidFill>
                <a:latin typeface="Calibri"/>
              </a:rPr>
              <a:t>DWS IQ Aegis Defence</a:t>
            </a:r>
            <a:r>
              <a:rPr sz="1800" b="0">
                <a:solidFill>
                  <a:srgbClr val="E7F2EF"/>
                </a:solidFill>
                <a:latin typeface="Calibri"/>
              </a:rPr>
              <a:t> — turning Kemira's SBTi-validated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7F2EF"/>
                </a:solidFill>
                <a:latin typeface="Calibri"/>
              </a:rPr>
              <a:t>carbon targets and first-year CSRD reporting into an auditable, EU-sovereign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Prepared for: Maria (Hintikka) Sederholm — VP, Fiber Essentials   ·   Mikko Pohjala — VP, Strategy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FE6E1"/>
                </a:solidFill>
                <a:latin typeface="Calibri"/>
              </a:rPr>
              <a:t>Kemira Oyj   ·   Version 1.0   ·   24 June 2026   ·   Risto Päärni, Lifetime 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0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The opportunity in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91672" cy="1417320"/>
          </a:xfrm>
          <a:prstGeom prst="rect">
            <a:avLst/>
          </a:prstGeom>
          <a:solidFill>
            <a:srgbClr val="FBF6EA"/>
          </a:solidFill>
          <a:ln w="9525">
            <a:solidFill>
              <a:srgbClr val="B88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DWS IQ Aegis Defence turns Kemira's carbon-compliance work into an attestable advantage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KYA-governed AI agents and EU AI Act Article 12 audit on Finnish-hosted, CLOUD Act-free infrastructure — so CBAM, CSRD and customer PCF demands are met faster, with the audit trail regulators and customers ask for, and Kemira's process data stays sovereign.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5440680" cy="2651760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The 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0F1B2D"/>
                </a:solidFill>
                <a:latin typeface="Calibri"/>
              </a:rPr>
              <a:t>A free 1–2 week scoping → pilot on one Fiber Essentials product line, aligned to Aegis GA (Aug 2026), measuring carbon-declaration cycle time, audit coverage and hours reclaimed.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3383280"/>
            <a:ext cx="5440680" cy="2651760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3566160"/>
            <a:ext cx="5029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The offer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B6B5B"/>
                </a:solidFill>
                <a:latin typeface="Calibri"/>
              </a:rPr>
              <a:t>Aegis Defence</a:t>
            </a:r>
            <a:r>
              <a:rPr sz="1300" b="0">
                <a:solidFill>
                  <a:srgbClr val="5A6B7E"/>
                </a:solidFill>
                <a:latin typeface="Calibri"/>
              </a:rPr>
              <a:t> — promised tier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F1B2D"/>
                </a:solidFill>
                <a:latin typeface="Calibri"/>
              </a:rPr>
              <a:t>€89,990 onboarding + €1,999 / month.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B7E"/>
                </a:solidFill>
                <a:latin typeface="Calibri"/>
              </a:rPr>
              <a:t>Standard tier (€59,990 + €999/mo) is the fallback if the dual-use / EDIP layer proves out of scope.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1 · KEMIRA COMPANY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1B2D"/>
                </a:solidFill>
                <a:latin typeface="Calibri"/>
              </a:rPr>
              <a:t>Researched &amp; verified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84124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91672" cy="91"/>
          </a:xfrm>
          <a:prstGeom prst="rect">
            <a:avLst/>
          </a:prstGeom>
          <a:solidFill>
            <a:srgbClr val="DF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91672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928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B7E"/>
                </a:solidFill>
                <a:latin typeface="Calibri"/>
              </a:rPr>
              <a:t>Listing / HQ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9280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Kemira Oyj — Nasdaq Helsinki (KEMIRA), HQ Helsinki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187452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B7E"/>
                </a:solidFill>
                <a:latin typeface="Calibri"/>
              </a:rPr>
              <a:t>FY2024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59736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≈ €2.95 billion (€2,948.1m)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0" y="2441448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A3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9A3B1B"/>
                </a:solidFill>
                <a:latin typeface="Calibri"/>
              </a:rPr>
              <a:t>Confirm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16936"/>
            <a:ext cx="11091672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2666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B7E"/>
                </a:solidFill>
                <a:latin typeface="Calibri"/>
              </a:rPr>
              <a:t>Employees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02666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≈ 4,700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3008376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A3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9A3B1B"/>
                </a:solidFill>
                <a:latin typeface="Calibri"/>
              </a:rPr>
              <a:t>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935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B7E"/>
                </a:solidFill>
                <a:latin typeface="Calibri"/>
              </a:rPr>
              <a:t>Footprint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93591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≈ 58 production sites, ~37 countries; sales in 100+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3575303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A3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9A3B1B"/>
                </a:solidFill>
                <a:latin typeface="Calibri"/>
              </a:rPr>
              <a:t>Confirm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50791"/>
            <a:ext cx="11091672" cy="5486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60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A6B7E"/>
                </a:solidFill>
                <a:latin typeface="Calibri"/>
              </a:rPr>
              <a:t>President &amp; CEO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160519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Antti Salminen (since 12 Feb 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0" y="4142231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9204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F1B2D"/>
                </a:solidFill>
                <a:latin typeface="Calibri"/>
              </a:rPr>
              <a:t>Organisation — three business units since 1 Jan 2025 (corrects an earlier two-unit assumption):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1B2D"/>
                </a:solidFill>
                <a:latin typeface="Calibri"/>
              </a:rPr>
              <a:t>Fiber Essentials — EVP Antti Matula (Maria's unit)   ·   Water Solutions — EVP Tuija Pohjolainen-Hiltunen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1B2D"/>
                </a:solidFill>
                <a:latin typeface="Calibri"/>
              </a:rPr>
              <a:t>Packaging &amp; Hygiene Solutions — EVP Harri Eronen   ·   Strategy &amp; Sustainability combined under EVP Linus Hildebrandt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2 · CARBON COMPLIANCE — THE VERIFIED SPINE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F1B2D"/>
                </a:solidFill>
                <a:latin typeface="Calibri"/>
              </a:rPr>
              <a:t>Hard, externally-validated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2697480" cy="2286000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B2D"/>
                </a:solidFill>
                <a:latin typeface="Calibri"/>
              </a:rPr>
              <a:t>Scope 1 &amp; 2 — near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14600"/>
            <a:ext cx="2368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6B5B"/>
                </a:solidFill>
                <a:latin typeface="Calibri"/>
              </a:rPr>
              <a:t>−51.23%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2368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by 2030 vs 2018. SBTi-validated, 1.5°C-aligned.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70332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Verified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1783080"/>
            <a:ext cx="2697480" cy="2286000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92024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B2D"/>
                </a:solidFill>
                <a:latin typeface="Calibri"/>
              </a:rPr>
              <a:t>Scope 3 — goods &amp;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514600"/>
            <a:ext cx="2368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6B5B"/>
                </a:solidFill>
                <a:latin typeface="Calibri"/>
              </a:rPr>
              <a:t>−32.5%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3154680"/>
            <a:ext cx="2368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by 2033 vs 2021. SBTi-validated near-term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5304" y="370332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Verified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783080"/>
            <a:ext cx="2697480" cy="2286000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92024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B2D"/>
                </a:solidFill>
                <a:latin typeface="Calibri"/>
              </a:rPr>
              <a:t>Long-term ambition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514600"/>
            <a:ext cx="2368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6B5B"/>
                </a:solidFill>
                <a:latin typeface="Calibri"/>
              </a:rPr>
              <a:t>2045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154680"/>
            <a:ext cx="2368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carbon neutral for Scopes 1 &amp; 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37376" y="370332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Verified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34856" y="1783080"/>
            <a:ext cx="2697480" cy="2286000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1920240"/>
            <a:ext cx="23682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B2D"/>
                </a:solidFill>
                <a:latin typeface="Calibri"/>
              </a:rPr>
              <a:t>CSRD / ESRS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2514600"/>
            <a:ext cx="23682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0B6B5B"/>
                </a:solidFill>
                <a:latin typeface="Calibri"/>
              </a:rPr>
              <a:t>FY2024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154680"/>
            <a:ext cx="23682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first sustainability statement — now under assurance.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9448" y="3703320"/>
            <a:ext cx="86868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9A3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9A3B1B"/>
                </a:solidFill>
                <a:latin typeface="Calibri"/>
              </a:rPr>
              <a:t>Confirm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43400"/>
            <a:ext cx="11091672" cy="1783080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10607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—  </a:t>
            </a:r>
            <a:r>
              <a:rPr sz="1300" b="0">
                <a:solidFill>
                  <a:srgbClr val="0F1B2D"/>
                </a:solidFill>
                <a:latin typeface="Calibri"/>
              </a:rPr>
              <a:t>Scope 3 is the hard 32.5% — it depends on supplier and product-level data. Kemira already runs a Supplier PCF Reporting Guideline (Apr 2025): the same engine that ingests supplier PCFs produces customer-facing PCFs.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—  </a:t>
            </a:r>
            <a:r>
              <a:rPr sz="1300" b="0">
                <a:solidFill>
                  <a:srgbClr val="0F1B2D"/>
                </a:solidFill>
                <a:latin typeface="Calibri"/>
              </a:rPr>
              <a:t>Customers demand embedded-emissions data — per-product carbon footprints and EPDs in tenders, today manual and inconsistent.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—  </a:t>
            </a:r>
            <a:r>
              <a:rPr sz="1300" b="0">
                <a:solidFill>
                  <a:srgbClr val="0F1B2D"/>
                </a:solidFill>
                <a:latin typeface="Calibri"/>
              </a:rPr>
              <a:t>CSRD/ESRS raises the bar — first-year statement must be reproducible to source under assurance; AI used to compute it falls under EU AI Act audit-log expectations.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3B1B"/>
                </a:solidFill>
                <a:latin typeface="Calibri"/>
              </a:rPr>
              <a:t>2B · WHAT WE VERIFIED — AND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1B2D"/>
                </a:solidFill>
                <a:latin typeface="Calibri"/>
              </a:rPr>
              <a:t>Board-grade honesty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440680" cy="4206240"/>
          </a:xfrm>
          <a:prstGeom prst="rect">
            <a:avLst/>
          </a:prstGeom>
          <a:solidFill>
            <a:srgbClr val="EEF8F1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7A44"/>
                </a:solidFill>
                <a:latin typeface="Calibri"/>
              </a:rPr>
              <a:t>VERIFIED (3/3 votes)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✓  </a:t>
            </a:r>
            <a:r>
              <a:rPr sz="1300" b="0">
                <a:solidFill>
                  <a:srgbClr val="0F1B2D"/>
                </a:solidFill>
                <a:latin typeface="Calibri"/>
              </a:rPr>
              <a:t>3 business units + EVP leadership; CEO Salminen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✓  </a:t>
            </a:r>
            <a:r>
              <a:rPr sz="1300" b="0">
                <a:solidFill>
                  <a:srgbClr val="0F1B2D"/>
                </a:solidFill>
                <a:latin typeface="Calibri"/>
              </a:rPr>
              <a:t>SBTi targets: −51.23%/2030, −32.5%/2033, neutral 2045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✓  </a:t>
            </a:r>
            <a:r>
              <a:rPr sz="1300" b="0">
                <a:solidFill>
                  <a:srgbClr val="0F1B2D"/>
                </a:solidFill>
                <a:latin typeface="Calibri"/>
              </a:rPr>
              <a:t>Sustainability under EVP Strategy &amp; Sustainability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✓  </a:t>
            </a:r>
            <a:r>
              <a:rPr sz="1300" b="0">
                <a:solidFill>
                  <a:srgbClr val="0F1B2D"/>
                </a:solidFill>
                <a:latin typeface="Calibri"/>
              </a:rPr>
              <a:t>2019 sustainability-linked €400m RCF (KPIs)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737360"/>
            <a:ext cx="5440680" cy="4206240"/>
          </a:xfrm>
          <a:prstGeom prst="rect">
            <a:avLst/>
          </a:prstGeom>
          <a:solidFill>
            <a:srgbClr val="FBF1EC"/>
          </a:solidFill>
          <a:ln w="9525">
            <a:solidFill>
              <a:srgbClr val="9A3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7451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A3B1B"/>
                </a:solidFill>
                <a:latin typeface="Calibri"/>
              </a:rPr>
              <a:t>CONFIRM IN SCOPING (not asserted)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33172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•  </a:t>
            </a:r>
            <a:r>
              <a:rPr sz="1300" b="0">
                <a:solidFill>
                  <a:srgbClr val="0F1B2D"/>
                </a:solidFill>
                <a:latin typeface="Calibri"/>
              </a:rPr>
              <a:t>Specific EU ETS Phase 4 installations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•  </a:t>
            </a:r>
            <a:r>
              <a:rPr sz="1300" b="0">
                <a:solidFill>
                  <a:srgbClr val="0F1B2D"/>
                </a:solidFill>
                <a:latin typeface="Calibri"/>
              </a:rPr>
              <a:t>CBAM precursor-import / downstream exposure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•  </a:t>
            </a:r>
            <a:r>
              <a:rPr sz="1300" b="0">
                <a:solidFill>
                  <a:srgbClr val="0F1B2D"/>
                </a:solidFill>
                <a:latin typeface="Calibri"/>
              </a:rPr>
              <a:t>Absolute Scope 1/2/3 tonnages (only % targets confirmed)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•  </a:t>
            </a:r>
            <a:r>
              <a:rPr sz="1300" b="0">
                <a:solidFill>
                  <a:srgbClr val="0F1B2D"/>
                </a:solidFill>
                <a:latin typeface="Calibri"/>
              </a:rPr>
              <a:t>CER Directive / NIS2 / dual-use export-control scope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0B6B5B"/>
                </a:solidFill>
                <a:latin typeface="Calibri"/>
              </a:rPr>
              <a:t>•  </a:t>
            </a:r>
            <a:r>
              <a:rPr sz="1300" b="0">
                <a:solidFill>
                  <a:srgbClr val="0F1B2D"/>
                </a:solidFill>
                <a:latin typeface="Calibri"/>
              </a:rPr>
              <a:t>→ the dual-use angle behind the Defence tier is a hypothesis to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3 · THE GAP → WHAT AEGIS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F1B2D"/>
                </a:solidFill>
                <a:latin typeface="Calibri"/>
              </a:rPr>
              <a:t>From manual burden to governed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B7E"/>
                </a:solidFill>
                <a:latin typeface="Calibri"/>
              </a:rPr>
              <a:t>Kemira's carbon-compliance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783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A6B7E"/>
                </a:solidFill>
                <a:latin typeface="Calibri"/>
              </a:rPr>
              <a:t>Aegis 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94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CBAM &amp; carbon declarations done manually, no consistent audit trail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45352" y="2148840"/>
            <a:ext cx="5394960" cy="731520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2240280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B2D"/>
                </a:solidFill>
                <a:latin typeface="Calibri"/>
              </a:rPr>
              <a:t>Carbon-declaration engine (VulcanAgent) + Article 12 logging on every figure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90088"/>
            <a:ext cx="5394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081528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Scope 3 / PCF data in fragmented spreadsheets, up- and downstream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2990088"/>
            <a:ext cx="5394960" cy="731520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3081528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B2D"/>
                </a:solidFill>
                <a:latin typeface="Calibri"/>
              </a:rPr>
              <a:t>CrossVerticalIntel — bidirectional PCF ingest/produce on one governed pipeline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31336"/>
            <a:ext cx="5394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22776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AI tools run on US clouds → CLOUD Act exposure + EU AI Act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3831336"/>
            <a:ext cx="5394960" cy="731520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3922776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B2D"/>
                </a:solidFill>
                <a:latin typeface="Calibri"/>
              </a:rPr>
              <a:t>100% EU-owned, Finnish-hosted; SovereigntyMonitor flags non-EU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72584"/>
            <a:ext cx="5394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64024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No verifiable governance over AI actions on regulated disclosures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4672584"/>
            <a:ext cx="5394960" cy="731520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4764024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B2D"/>
                </a:solidFill>
                <a:latin typeface="Calibri"/>
              </a:rPr>
              <a:t>KYA — verified agent identity, MicroVM isolation, real-time kill authority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13832"/>
            <a:ext cx="5394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605272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0F1B2D"/>
                </a:solidFill>
                <a:latin typeface="Calibri"/>
              </a:rPr>
              <a:t>CSRD/ESRS must be reproducible to source under assurance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5513832"/>
            <a:ext cx="5394960" cy="731520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5605272"/>
            <a:ext cx="50749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F1B2D"/>
                </a:solidFill>
                <a:latin typeface="Calibri"/>
              </a:rPr>
              <a:t>Article 12 audit + reasoning lineage = audit-ready evidence chain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4 · THE BOARD CASE — FOUR ROLES, ONE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0F1B2D"/>
                </a:solidFill>
                <a:latin typeface="Calibri"/>
              </a:rPr>
              <a:t>Each role wins; each win creates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374903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92808"/>
            <a:ext cx="3474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B2D"/>
                </a:solidFill>
                <a:latin typeface="Calibri"/>
              </a:rPr>
              <a:t>Strategy / board bridge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E"/>
                </a:solidFill>
                <a:latin typeface="Calibri"/>
              </a:rPr>
              <a:t>Mikko Pohjala (VP Strategy) → EVP Hildebrandt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783080"/>
            <a:ext cx="7205472" cy="969264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20"/>
            <a:ext cx="68580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B2D"/>
                </a:solidFill>
                <a:latin typeface="Calibri"/>
              </a:rPr>
              <a:t>Carbon compliance reframed from cost to a sovereign, defensible capability that strengthens the CSRD &amp; SBTi narrative.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62072"/>
            <a:ext cx="374903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971800"/>
            <a:ext cx="3474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B2D"/>
                </a:solidFill>
                <a:latin typeface="Calibri"/>
              </a:rPr>
              <a:t>Commercial / line — door #1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E"/>
                </a:solidFill>
                <a:latin typeface="Calibri"/>
              </a:rPr>
              <a:t>Maria Sederholm (VP, Fiber Essentials) → EVP Matula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862072"/>
            <a:ext cx="7205472" cy="969264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953512"/>
            <a:ext cx="68580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B2D"/>
                </a:solidFill>
                <a:latin typeface="Calibri"/>
              </a:rPr>
              <a:t>Per-product PCFs &amp; CBAM data in minutes; sovereign attestation becomes a tender differentiator in Scope-3-audited accounts.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41063"/>
            <a:ext cx="374903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050791"/>
            <a:ext cx="3474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B2D"/>
                </a:solidFill>
                <a:latin typeface="Calibri"/>
              </a:rPr>
              <a:t>Security / IT approver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E"/>
                </a:solidFill>
                <a:latin typeface="Calibri"/>
              </a:rPr>
              <a:t>CISO / Head of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3941063"/>
            <a:ext cx="7205472" cy="969264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32503"/>
            <a:ext cx="68580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B2D"/>
                </a:solidFill>
                <a:latin typeface="Calibri"/>
              </a:rPr>
              <a:t>EU-sovereign by construction; KYA governance, kill authority, Article 12 audit; zero CLOUD Act / discovery surface.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0056"/>
            <a:ext cx="3749039" cy="969264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129784"/>
            <a:ext cx="347472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1B2D"/>
                </a:solidFill>
                <a:latin typeface="Calibri"/>
              </a:rPr>
              <a:t>Executive sign-off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A6B7E"/>
                </a:solidFill>
                <a:latin typeface="Calibri"/>
              </a:rPr>
              <a:t>CEO Antti Salminen / CFO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5020056"/>
            <a:ext cx="7205472" cy="969264"/>
          </a:xfrm>
          <a:prstGeom prst="rect">
            <a:avLst/>
          </a:prstGeom>
          <a:solidFill>
            <a:srgbClr val="F6FAF8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5111496"/>
            <a:ext cx="6858000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B2D"/>
                </a:solidFill>
                <a:latin typeface="Calibri"/>
              </a:rPr>
              <a:t>One platform moves revenue, cost and risk; one EU jurisdiction, one auditable story for board &amp; capital markets.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5 · COMMERCIAL OFFER &amp;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0F1B2D"/>
                </a:solidFill>
                <a:latin typeface="Calibri"/>
              </a:rPr>
              <a:t>Three tiers — Defence promised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868680"/>
            <a:ext cx="105156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1F7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900" b="1">
                <a:solidFill>
                  <a:srgbClr val="1F7A44"/>
                </a:solidFill>
                <a:latin typeface="Calibri"/>
              </a:rPr>
              <a:t>canonical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92808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89280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8928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Monthly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892808"/>
            <a:ext cx="45079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Included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11091672" cy="694944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2926079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B2D"/>
                </a:solidFill>
                <a:latin typeface="Calibri"/>
              </a:rPr>
              <a:t>Aegis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386584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€59,990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386584"/>
            <a:ext cx="137160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€999/mo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386584"/>
            <a:ext cx="4507992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B2D"/>
                </a:solidFill>
                <a:latin typeface="Calibri"/>
              </a:rPr>
              <a:t>18 agents · 21 industries · K8s cluster · Article 12 · KYA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90088"/>
            <a:ext cx="11091672" cy="694944"/>
          </a:xfrm>
          <a:prstGeom prst="rect">
            <a:avLst/>
          </a:prstGeom>
          <a:solidFill>
            <a:srgbClr val="FBF6E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36392"/>
            <a:ext cx="2926079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B6B5B"/>
                </a:solidFill>
                <a:latin typeface="Calibri"/>
              </a:rPr>
              <a:t>Aegis Defence  (promised)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136392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B2D"/>
                </a:solidFill>
                <a:latin typeface="Calibri"/>
              </a:rPr>
              <a:t>€89,990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136392"/>
            <a:ext cx="137160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B2D"/>
                </a:solidFill>
                <a:latin typeface="Calibri"/>
              </a:rPr>
              <a:t>€1,999/mo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36392"/>
            <a:ext cx="4507992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B2D"/>
                </a:solidFill>
                <a:latin typeface="Calibri"/>
              </a:rPr>
              <a:t>Standard + NVIDIA L40S GPU · ArgusAgent SAR · 4h SLA · EDIP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39896"/>
            <a:ext cx="11091672" cy="694944"/>
          </a:xfrm>
          <a:prstGeom prst="rect">
            <a:avLst/>
          </a:prstGeom>
          <a:solidFill>
            <a:srgbClr val="F4F7FA"/>
          </a:solidFill>
          <a:ln w="9525">
            <a:solidFill>
              <a:srgbClr val="DF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2926079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B2D"/>
                </a:solidFill>
                <a:latin typeface="Calibri"/>
              </a:rPr>
              <a:t>Aegis Sovereign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886200"/>
            <a:ext cx="155448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Custom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886200"/>
            <a:ext cx="1371600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0F1B2D"/>
                </a:solidFill>
                <a:latin typeface="Calibri"/>
              </a:rPr>
              <a:t>€4,999/mo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886200"/>
            <a:ext cx="4507992" cy="5669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F1B2D"/>
                </a:solidFill>
                <a:latin typeface="Calibri"/>
              </a:rPr>
              <a:t>Defence + air-gapped/on-prem · clearance support · dedicated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B7E"/>
                </a:solidFill>
                <a:latin typeface="Calibri"/>
              </a:rPr>
              <a:t>Software-only (GPU is UpCloud Helsinki inference capacity). Single-tenant Kubernetes on UpCloud — Finnish-owned, ISO 27001, zero CLOUD Act. Platform GA: August 2026.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A3B1B"/>
                </a:solidFill>
                <a:latin typeface="Calibri"/>
              </a:rPr>
              <a:t>Said openly: if scoping shows pure carbon / critical-infrastructure value (no dual-use/EDIP), Aegis Standard carries the same sovereignty, KYA governance and Article 12 audit — we won't force Defence if Standard fits.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B7E"/>
                </a:solidFill>
                <a:latin typeface="Calibri"/>
              </a:rPr>
              <a:t>Lifetime Oy  ·  risto.paarni@lifetime.fi  ·  Business ID 0772407-9  ·  Confidential — prepared 24 June 2026 for Kemira Oyj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B6B5B"/>
                </a:solidFill>
                <a:latin typeface="Calibri"/>
              </a:rPr>
              <a:t>6 ·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0F1B2D"/>
                </a:solidFill>
                <a:latin typeface="Calibri"/>
              </a:rPr>
              <a:t>From here to a pilot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0B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1024128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Confirm scope (call with Maria)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B7E"/>
                </a:solidFill>
                <a:latin typeface="Calibri"/>
              </a:rPr>
              <a:t>Which Fiber Essentials lines carry the heaviest CBAM / customer-PCF / CSRD load; confirm titles &amp; reporting lines; decide Defence vs Standard.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07791"/>
            <a:ext cx="548640" cy="548640"/>
          </a:xfrm>
          <a:prstGeom prst="ellipse">
            <a:avLst/>
          </a:prstGeom>
          <a:solidFill>
            <a:srgbClr val="0B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26079"/>
            <a:ext cx="1024128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Loop in Mikko (Strategy) early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B7E"/>
                </a:solidFill>
                <a:latin typeface="Calibri"/>
              </a:rPr>
              <a:t>He carries the board narrative and connects to EVP Strategy &amp; Sustainability — the executive sponsor for a sovereign-compliance mandate.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986783"/>
            <a:ext cx="548640" cy="548640"/>
          </a:xfrm>
          <a:prstGeom prst="ellipse">
            <a:avLst/>
          </a:prstGeom>
          <a:solidFill>
            <a:srgbClr val="0B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005071"/>
            <a:ext cx="1024128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Free scoping, 1–2 weeks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B7E"/>
                </a:solidFill>
                <a:latin typeface="Calibri"/>
              </a:rPr>
              <a:t>Lock the product line, the measurement set (cycle time, audit coverage, hours reclaimed) and the data sources.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65776"/>
            <a:ext cx="548640" cy="548640"/>
          </a:xfrm>
          <a:prstGeom prst="ellipse">
            <a:avLst/>
          </a:prstGeom>
          <a:solidFill>
            <a:srgbClr val="0B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5084064"/>
            <a:ext cx="10241280" cy="987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1B2D"/>
                </a:solidFill>
                <a:latin typeface="Calibri"/>
              </a:rPr>
              <a:t>Pilot aligned to GA (Aug 2026)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B7E"/>
                </a:solidFill>
                <a:latin typeface="Calibri"/>
              </a:rPr>
              <a:t>One product line, KYA-governed carbon-declaration pipeline, Article 12 audit, sovereign hosting. Commercial conversion on agreed KPIs.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FE6E1"/>
                </a:solidFill>
                <a:latin typeface="Calibri"/>
              </a:rPr>
              <a:t>SOURCES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Verified, not vibed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6984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B6B5B"/>
                </a:solidFill>
                <a:latin typeface="Calibri"/>
              </a:rPr>
              <a:t>—  </a:t>
            </a:r>
            <a:r>
              <a:rPr sz="1400" b="0">
                <a:solidFill>
                  <a:srgbClr val="FFFFFF"/>
                </a:solidFill>
                <a:latin typeface="Calibri"/>
              </a:rPr>
              <a:t>Method: 5-angle web research → 21 sources → 13 falsifiable claims → 3-vote adversarial verification (12 confirmed, 1 refuted) → synthesis.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B6B5B"/>
                </a:solidFill>
                <a:latin typeface="Calibri"/>
              </a:rPr>
              <a:t>—  </a:t>
            </a:r>
            <a:r>
              <a:rPr sz="1400" b="0">
                <a:solidFill>
                  <a:srgbClr val="FFFFFF"/>
                </a:solidFill>
                <a:latin typeface="Calibri"/>
              </a:rPr>
              <a:t>Company facts: Kemira newsroom releases + Annual Report 2024 (reorg, SBTi targets, Supplier PCF Guideline, sustainability-linked RCF).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B6B5B"/>
                </a:solidFill>
                <a:latin typeface="Calibri"/>
              </a:rPr>
              <a:t>—  </a:t>
            </a:r>
            <a:r>
              <a:rPr sz="1400" b="0">
                <a:solidFill>
                  <a:srgbClr val="FFFFFF"/>
                </a:solidFill>
                <a:latin typeface="Calibri"/>
              </a:rPr>
              <a:t>Product &amp; pricing: canonical Store/PRODUCT_AEGIS.md and products.json (DWS-AEGIS-001).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0B6B5B"/>
                </a:solidFill>
                <a:latin typeface="Calibri"/>
              </a:rPr>
              <a:t>—  </a:t>
            </a:r>
            <a:r>
              <a:rPr sz="1400" b="0">
                <a:solidFill>
                  <a:srgbClr val="FFFFFF"/>
                </a:solidFill>
                <a:latin typeface="Calibri"/>
              </a:rPr>
              <a:t>Single-source figures tagged "Confirm" — validate with Kemira before board circulation.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DWS IQ Aegis Defence</a:t>
            </a:r>
            <a:r>
              <a:rPr sz="1600" b="0">
                <a:solidFill>
                  <a:srgbClr val="E7F2EF"/>
                </a:solidFill>
                <a:latin typeface="Calibri"/>
              </a:rPr>
              <a:t> — sovereign industrial intelligence, Finnish-hosted, CLOUD Act-free.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Risto Anton Päärni · Founder &amp; CEO, Lifetime Oy · risto.paarni@lifetime.fi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FE6E1"/>
                </a:solidFill>
                <a:latin typeface="Calibri"/>
              </a:rPr>
              <a:t>Laidunmaanraitti 2 A 25, 02330 Espoo · Business ID 0772407-9 · VAT FI07724079 · dws10.com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