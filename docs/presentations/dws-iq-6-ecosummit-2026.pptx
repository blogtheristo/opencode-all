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57405" autoAdjust="0"/>
  </p:normalViewPr>
  <p:slideViewPr>
    <p:cSldViewPr snapToGrid="0" snapToObjects="1">
      <p:cViewPr varScale="1">
        <p:scale>
          <a:sx n="51" d="100"/>
          <a:sy n="51" d="100"/>
        </p:scale>
        <p:origin x="2362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0552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linkedin.com/in/ristopaarni" TargetMode="External"/><Relationship Id="rId3" Type="http://schemas.openxmlformats.org/officeDocument/2006/relationships/hyperlink" Target="https://ecosummit.net/" TargetMode="External"/><Relationship Id="rId7" Type="http://schemas.openxmlformats.org/officeDocument/2006/relationships/hyperlink" Target="mailto:risto@lifetime.fi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calendly.com/ecosummit" TargetMode="External"/><Relationship Id="rId5" Type="http://schemas.openxmlformats.org/officeDocument/2006/relationships/hyperlink" Target="https://www.linkedin.com/in/janmichaelhess" TargetMode="External"/><Relationship Id="rId10" Type="http://schemas.openxmlformats.org/officeDocument/2006/relationships/hyperlink" Target="https://github.com/blogtheristo/dws6" TargetMode="External"/><Relationship Id="rId4" Type="http://schemas.openxmlformats.org/officeDocument/2006/relationships/hyperlink" Target="mailto:jan@ecosummit.net" TargetMode="External"/><Relationship Id="rId9" Type="http://schemas.openxmlformats.org/officeDocument/2006/relationships/hyperlink" Target="https://www.crunchbase.com/organization/lifetime-oy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i-FI" b="1" dirty="0"/>
              <a:t>DWS IQ 6 – Ecosummit 2026 Investor Pitch</a:t>
            </a:r>
          </a:p>
          <a:p>
            <a:r>
              <a:rPr lang="fi-FI" b="1" dirty="0"/>
              <a:t>Startup:</a:t>
            </a:r>
            <a:r>
              <a:rPr lang="fi-FI" dirty="0"/>
              <a:t> Lifetime Oy (Finland)</a:t>
            </a:r>
            <a:br>
              <a:rPr lang="fi-FI" dirty="0"/>
            </a:br>
            <a:r>
              <a:rPr lang="fi-FI" b="1" dirty="0"/>
              <a:t>Product:</a:t>
            </a:r>
            <a:r>
              <a:rPr lang="fi-FI" dirty="0"/>
              <a:t> DWS IQ 6 – Agentic Climate AI for EU Construction</a:t>
            </a:r>
            <a:br>
              <a:rPr lang="fi-FI" dirty="0"/>
            </a:br>
            <a:r>
              <a:rPr lang="fi-FI" b="1" dirty="0"/>
              <a:t>Event:</a:t>
            </a:r>
            <a:r>
              <a:rPr lang="fi-FI" dirty="0"/>
              <a:t> Ecosummit 2026</a:t>
            </a:r>
            <a:br>
              <a:rPr lang="fi-FI" dirty="0"/>
            </a:br>
            <a:r>
              <a:rPr lang="fi-FI" b="1" dirty="0" err="1"/>
              <a:t>Goal</a:t>
            </a:r>
            <a:r>
              <a:rPr lang="fi-FI" b="1" dirty="0"/>
              <a:t>:</a:t>
            </a:r>
            <a:r>
              <a:rPr lang="fi-FI" dirty="0"/>
              <a:t> 5-minute startup </a:t>
            </a:r>
            <a:r>
              <a:rPr lang="fi-FI" dirty="0" err="1"/>
              <a:t>pitch</a:t>
            </a:r>
            <a:r>
              <a:rPr lang="fi-FI" dirty="0"/>
              <a:t> </a:t>
            </a:r>
            <a:r>
              <a:rPr lang="fi-FI" dirty="0" err="1"/>
              <a:t>selection</a:t>
            </a:r>
            <a:r>
              <a:rPr lang="fi-FI" dirty="0"/>
              <a:t> + </a:t>
            </a:r>
            <a:r>
              <a:rPr lang="fi-FI" dirty="0" err="1"/>
              <a:t>follow-up</a:t>
            </a:r>
            <a:r>
              <a:rPr lang="fi-FI" dirty="0"/>
              <a:t> </a:t>
            </a:r>
            <a:r>
              <a:rPr lang="fi-FI" dirty="0" err="1"/>
              <a:t>meetings</a:t>
            </a:r>
            <a:endParaRPr lang="fi-FI" dirty="0"/>
          </a:p>
          <a:p>
            <a:br>
              <a:rPr lang="fi-FI" dirty="0"/>
            </a:br>
            <a:endParaRPr lang="fi-FI" dirty="0"/>
          </a:p>
          <a:p>
            <a:r>
              <a:rPr lang="fi-FI" b="1" dirty="0"/>
              <a:t>Ecosummit 2026 Event </a:t>
            </a:r>
            <a:r>
              <a:rPr lang="fi-FI" b="1" dirty="0" err="1"/>
              <a:t>Details</a:t>
            </a:r>
            <a:endParaRPr lang="fi-FI" b="1" dirty="0"/>
          </a:p>
          <a:p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EventDateFocus</a:t>
            </a:r>
            <a:r>
              <a:rPr lang="fi-FI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Ecosummit</a:t>
            </a:r>
            <a:r>
              <a:rPr lang="fi-FI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Berlin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25-26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March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2026Climate tech &amp;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smart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green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startups</a:t>
            </a:r>
            <a:r>
              <a:rPr lang="fi-FI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Ecosummit</a:t>
            </a:r>
            <a:r>
              <a:rPr lang="fi-FI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AI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7-8 October 2026AI for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climate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&amp; sustainability</a:t>
            </a:r>
          </a:p>
          <a:p>
            <a:r>
              <a:rPr lang="fi-FI" b="1" dirty="0" err="1"/>
              <a:t>Website</a:t>
            </a:r>
            <a:r>
              <a:rPr lang="fi-FI" b="1" dirty="0"/>
              <a:t>:</a:t>
            </a:r>
            <a:r>
              <a:rPr lang="fi-FI" dirty="0"/>
              <a:t> </a:t>
            </a:r>
            <a:r>
              <a:rPr lang="fi-FI" dirty="0">
                <a:hlinkClick r:id="rId3"/>
              </a:rPr>
              <a:t>ecosummit.net</a:t>
            </a:r>
            <a:endParaRPr lang="fi-FI" dirty="0"/>
          </a:p>
          <a:p>
            <a:r>
              <a:rPr lang="fi-FI" b="1" dirty="0"/>
              <a:t>Event </a:t>
            </a:r>
            <a:r>
              <a:rPr lang="fi-FI" b="1" dirty="0" err="1"/>
              <a:t>Organizer</a:t>
            </a:r>
            <a:r>
              <a:rPr lang="fi-FI" b="1" dirty="0"/>
              <a:t> Contact</a:t>
            </a:r>
          </a:p>
          <a:p>
            <a:r>
              <a:rPr lang="fi-FI" b="1" dirty="0"/>
              <a:t>Michael Hess</a:t>
            </a:r>
            <a:r>
              <a:rPr lang="fi-FI" dirty="0"/>
              <a:t> – Founder, Ecosummit</a:t>
            </a:r>
          </a:p>
          <a:p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ChannelContact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📧 Email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4"/>
              </a:rPr>
              <a:t>jan@ecosummit.net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📞 Phone+49 176 2120 8417🔗 LinkedIn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5"/>
              </a:rPr>
              <a:t>linkedin.com/in/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  <a:hlinkClick r:id="rId5"/>
              </a:rPr>
              <a:t>janmichaelhess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📅 Calendly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6"/>
              </a:rPr>
              <a:t>calendly.com/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  <a:hlinkClick r:id="rId6"/>
              </a:rPr>
              <a:t>ecosummit</a:t>
            </a:r>
            <a:endParaRPr lang="fi-FI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br>
              <a:rPr lang="fi-FI" dirty="0"/>
            </a:br>
            <a:endParaRPr lang="fi-FI" dirty="0"/>
          </a:p>
          <a:p>
            <a:r>
              <a:rPr lang="fi-FI" b="1" dirty="0" err="1"/>
              <a:t>Round</a:t>
            </a:r>
            <a:r>
              <a:rPr lang="fi-FI" b="1" dirty="0"/>
              <a:t> </a:t>
            </a:r>
            <a:r>
              <a:rPr lang="fi-FI" b="1" dirty="0" err="1"/>
              <a:t>Details</a:t>
            </a:r>
            <a:endParaRPr lang="fi-FI" b="1" dirty="0"/>
          </a:p>
          <a:p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ParameterValue</a:t>
            </a:r>
            <a:r>
              <a:rPr lang="fi-FI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Instrument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SAFE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(Simple Agreement for Future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Equity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fi-FI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Amount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€150,000</a:t>
            </a:r>
            <a:r>
              <a:rPr lang="fi-FI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Valuation Cap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€3.8M</a:t>
            </a:r>
            <a:r>
              <a:rPr lang="fi-FI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Discount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20%</a:t>
            </a:r>
            <a:r>
              <a:rPr lang="fi-FI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Target </a:t>
            </a:r>
            <a:r>
              <a:rPr lang="fi-FI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Audience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Climate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tech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VCs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corporate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infrastructure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investors</a:t>
            </a:r>
            <a:endParaRPr lang="fi-FI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br>
              <a:rPr lang="fi-FI" dirty="0"/>
            </a:br>
            <a:endParaRPr lang="fi-FI" dirty="0"/>
          </a:p>
          <a:p>
            <a:r>
              <a:rPr lang="fi-FI" b="1" dirty="0"/>
              <a:t>Pitch </a:t>
            </a:r>
            <a:r>
              <a:rPr lang="fi-FI" b="1" dirty="0" err="1"/>
              <a:t>Deck</a:t>
            </a:r>
            <a:r>
              <a:rPr lang="fi-FI" b="1" dirty="0"/>
              <a:t> </a:t>
            </a:r>
            <a:r>
              <a:rPr lang="fi-FI" b="1" dirty="0" err="1"/>
              <a:t>Structure</a:t>
            </a:r>
            <a:r>
              <a:rPr lang="fi-FI" b="1" dirty="0"/>
              <a:t> (10 </a:t>
            </a:r>
            <a:r>
              <a:rPr lang="fi-FI" b="1" dirty="0" err="1"/>
              <a:t>Slides</a:t>
            </a:r>
            <a:r>
              <a:rPr lang="fi-FI" b="1" dirty="0"/>
              <a:t>)</a:t>
            </a:r>
          </a:p>
          <a:p>
            <a:r>
              <a:rPr lang="fi-FI" b="1" dirty="0" err="1"/>
              <a:t>Slide</a:t>
            </a:r>
            <a:r>
              <a:rPr lang="fi-FI" b="1" dirty="0"/>
              <a:t> 1: </a:t>
            </a:r>
            <a:r>
              <a:rPr lang="fi-FI" b="1" dirty="0" err="1"/>
              <a:t>Title</a:t>
            </a:r>
            <a:endParaRPr lang="fi-FI" b="1" dirty="0"/>
          </a:p>
          <a:p>
            <a:r>
              <a:rPr lang="fi-FI" b="1" dirty="0"/>
              <a:t>Logo:</a:t>
            </a:r>
            <a:r>
              <a:rPr lang="fi-FI" dirty="0"/>
              <a:t> Lifetime Oy</a:t>
            </a:r>
          </a:p>
          <a:p>
            <a:r>
              <a:rPr lang="fi-FI" b="1" dirty="0" err="1"/>
              <a:t>Headline</a:t>
            </a:r>
            <a:r>
              <a:rPr lang="fi-FI" b="1" dirty="0"/>
              <a:t>:</a:t>
            </a:r>
            <a:r>
              <a:rPr lang="fi-FI" dirty="0"/>
              <a:t> DWS IQ 6 – Agentic Climate AI for EU Construction</a:t>
            </a:r>
          </a:p>
          <a:p>
            <a:r>
              <a:rPr lang="fi-FI" b="1" dirty="0" err="1"/>
              <a:t>Subtitle</a:t>
            </a:r>
            <a:r>
              <a:rPr lang="fi-FI" b="1" dirty="0"/>
              <a:t>:</a:t>
            </a:r>
            <a:r>
              <a:rPr lang="fi-FI" dirty="0"/>
              <a:t> Edge AI </a:t>
            </a:r>
            <a:r>
              <a:rPr lang="fi-FI" dirty="0" err="1"/>
              <a:t>platform</a:t>
            </a:r>
            <a:r>
              <a:rPr lang="fi-FI" dirty="0"/>
              <a:t> for 2028 </a:t>
            </a:r>
            <a:r>
              <a:rPr lang="fi-FI" dirty="0" err="1"/>
              <a:t>embodied</a:t>
            </a:r>
            <a:r>
              <a:rPr lang="fi-FI" dirty="0"/>
              <a:t> </a:t>
            </a:r>
            <a:r>
              <a:rPr lang="fi-FI" dirty="0" err="1"/>
              <a:t>carbon</a:t>
            </a:r>
            <a:r>
              <a:rPr lang="fi-FI" dirty="0"/>
              <a:t> compliance</a:t>
            </a:r>
          </a:p>
          <a:p>
            <a:r>
              <a:rPr lang="fi-FI" b="1" dirty="0"/>
              <a:t>Founder:</a:t>
            </a:r>
            <a:r>
              <a:rPr lang="fi-FI" dirty="0"/>
              <a:t> Risto Anton Päärni, Founder &amp; CEO</a:t>
            </a:r>
          </a:p>
          <a:p>
            <a:r>
              <a:rPr lang="fi-FI" b="1" dirty="0" err="1"/>
              <a:t>Slide</a:t>
            </a:r>
            <a:r>
              <a:rPr lang="fi-FI" b="1" dirty="0"/>
              <a:t> 2: </a:t>
            </a:r>
            <a:r>
              <a:rPr lang="fi-FI" b="1" dirty="0" err="1"/>
              <a:t>Problem</a:t>
            </a:r>
            <a:r>
              <a:rPr lang="fi-FI" b="1" dirty="0"/>
              <a:t> – EU Construction Compliance </a:t>
            </a:r>
            <a:r>
              <a:rPr lang="fi-FI" b="1" dirty="0" err="1"/>
              <a:t>Crisis</a:t>
            </a:r>
            <a:endParaRPr lang="fi-FI" b="1" dirty="0"/>
          </a:p>
          <a:p>
            <a:r>
              <a:rPr lang="fi-FI" dirty="0"/>
              <a:t>2028 </a:t>
            </a:r>
            <a:r>
              <a:rPr lang="fi-FI" dirty="0" err="1"/>
              <a:t>embodied</a:t>
            </a:r>
            <a:r>
              <a:rPr lang="fi-FI" dirty="0"/>
              <a:t> </a:t>
            </a:r>
            <a:r>
              <a:rPr lang="fi-FI" dirty="0" err="1"/>
              <a:t>carbon</a:t>
            </a:r>
            <a:r>
              <a:rPr lang="fi-FI" dirty="0"/>
              <a:t> </a:t>
            </a:r>
            <a:r>
              <a:rPr lang="fi-FI" dirty="0" err="1"/>
              <a:t>mandate</a:t>
            </a:r>
            <a:r>
              <a:rPr lang="fi-FI" dirty="0"/>
              <a:t> for </a:t>
            </a:r>
            <a:r>
              <a:rPr lang="fi-FI" dirty="0" err="1"/>
              <a:t>buildings</a:t>
            </a:r>
            <a:r>
              <a:rPr lang="fi-FI" dirty="0"/>
              <a:t> &gt;1,000 m²</a:t>
            </a:r>
          </a:p>
          <a:p>
            <a:r>
              <a:rPr lang="fi-FI" dirty="0" err="1"/>
              <a:t>Fit</a:t>
            </a:r>
            <a:r>
              <a:rPr lang="fi-FI" dirty="0"/>
              <a:t> for 55: 55% </a:t>
            </a:r>
            <a:r>
              <a:rPr lang="fi-FI" dirty="0" err="1"/>
              <a:t>emissions</a:t>
            </a:r>
            <a:r>
              <a:rPr lang="fi-FI" dirty="0"/>
              <a:t> </a:t>
            </a:r>
            <a:r>
              <a:rPr lang="fi-FI" dirty="0" err="1"/>
              <a:t>reduction</a:t>
            </a:r>
            <a:r>
              <a:rPr lang="fi-FI" dirty="0"/>
              <a:t> </a:t>
            </a:r>
            <a:r>
              <a:rPr lang="fi-FI" dirty="0" err="1"/>
              <a:t>target</a:t>
            </a:r>
            <a:r>
              <a:rPr lang="fi-FI" dirty="0"/>
              <a:t> by 2030</a:t>
            </a:r>
          </a:p>
          <a:p>
            <a:r>
              <a:rPr lang="fi-FI" dirty="0"/>
              <a:t>Construction </a:t>
            </a:r>
            <a:r>
              <a:rPr lang="fi-FI" dirty="0" err="1"/>
              <a:t>accounts</a:t>
            </a:r>
            <a:r>
              <a:rPr lang="fi-FI" dirty="0"/>
              <a:t> for ~40% of EU CO₂ </a:t>
            </a:r>
            <a:r>
              <a:rPr lang="fi-FI" dirty="0" err="1"/>
              <a:t>emissions</a:t>
            </a:r>
            <a:endParaRPr lang="fi-FI" dirty="0"/>
          </a:p>
          <a:p>
            <a:r>
              <a:rPr lang="fi-FI" dirty="0" err="1"/>
              <a:t>SMEs</a:t>
            </a:r>
            <a:r>
              <a:rPr lang="fi-FI" dirty="0"/>
              <a:t> </a:t>
            </a:r>
            <a:r>
              <a:rPr lang="fi-FI" dirty="0" err="1"/>
              <a:t>responsible</a:t>
            </a:r>
            <a:r>
              <a:rPr lang="fi-FI" dirty="0"/>
              <a:t> for 63% of EU </a:t>
            </a:r>
            <a:r>
              <a:rPr lang="fi-FI" dirty="0" err="1"/>
              <a:t>emissions</a:t>
            </a:r>
            <a:r>
              <a:rPr lang="fi-FI" dirty="0"/>
              <a:t> </a:t>
            </a:r>
            <a:r>
              <a:rPr lang="fi-FI" dirty="0" err="1"/>
              <a:t>but</a:t>
            </a:r>
            <a:r>
              <a:rPr lang="fi-FI" dirty="0"/>
              <a:t> </a:t>
            </a:r>
            <a:r>
              <a:rPr lang="fi-FI" dirty="0" err="1"/>
              <a:t>lack</a:t>
            </a:r>
            <a:r>
              <a:rPr lang="fi-FI" dirty="0"/>
              <a:t> in-house AI </a:t>
            </a:r>
            <a:r>
              <a:rPr lang="fi-FI" dirty="0" err="1"/>
              <a:t>teams</a:t>
            </a:r>
            <a:endParaRPr lang="fi-FI" dirty="0"/>
          </a:p>
          <a:p>
            <a:r>
              <a:rPr lang="fi-FI" dirty="0" err="1"/>
              <a:t>Today's</a:t>
            </a:r>
            <a:r>
              <a:rPr lang="fi-FI" dirty="0"/>
              <a:t> </a:t>
            </a:r>
            <a:r>
              <a:rPr lang="fi-FI" dirty="0" err="1"/>
              <a:t>reality</a:t>
            </a:r>
            <a:r>
              <a:rPr lang="fi-FI" dirty="0"/>
              <a:t>: </a:t>
            </a:r>
            <a:r>
              <a:rPr lang="fi-FI" dirty="0" err="1"/>
              <a:t>manual</a:t>
            </a:r>
            <a:r>
              <a:rPr lang="fi-FI" dirty="0"/>
              <a:t> </a:t>
            </a:r>
            <a:r>
              <a:rPr lang="fi-FI" dirty="0" err="1"/>
              <a:t>spreadsheets</a:t>
            </a:r>
            <a:r>
              <a:rPr lang="fi-FI" dirty="0"/>
              <a:t>, </a:t>
            </a:r>
            <a:r>
              <a:rPr lang="fi-FI" dirty="0" err="1"/>
              <a:t>expensive</a:t>
            </a:r>
            <a:r>
              <a:rPr lang="fi-FI" dirty="0"/>
              <a:t> </a:t>
            </a:r>
            <a:r>
              <a:rPr lang="fi-FI" dirty="0" err="1"/>
              <a:t>consultants</a:t>
            </a:r>
            <a:r>
              <a:rPr lang="fi-FI" dirty="0"/>
              <a:t>, </a:t>
            </a:r>
            <a:r>
              <a:rPr lang="fi-FI" dirty="0" err="1"/>
              <a:t>high</a:t>
            </a:r>
            <a:r>
              <a:rPr lang="fi-FI" dirty="0"/>
              <a:t> cloud </a:t>
            </a:r>
            <a:r>
              <a:rPr lang="fi-FI" dirty="0" err="1"/>
              <a:t>costs</a:t>
            </a:r>
            <a:r>
              <a:rPr lang="fi-FI" dirty="0"/>
              <a:t> – </a:t>
            </a:r>
            <a:r>
              <a:rPr lang="fi-FI" dirty="0" err="1"/>
              <a:t>not</a:t>
            </a:r>
            <a:r>
              <a:rPr lang="fi-FI" dirty="0"/>
              <a:t> </a:t>
            </a:r>
            <a:r>
              <a:rPr lang="fi-FI" dirty="0" err="1"/>
              <a:t>scalable</a:t>
            </a:r>
            <a:endParaRPr lang="fi-FI" dirty="0"/>
          </a:p>
          <a:p>
            <a:r>
              <a:rPr lang="fi-FI" b="1" dirty="0" err="1"/>
              <a:t>Slide</a:t>
            </a:r>
            <a:r>
              <a:rPr lang="fi-FI" b="1" dirty="0"/>
              <a:t> 3: Solution – DWS IQ 6 Agents</a:t>
            </a:r>
          </a:p>
          <a:p>
            <a:r>
              <a:rPr lang="fi-FI" dirty="0"/>
              <a:t>Edge AI </a:t>
            </a:r>
            <a:r>
              <a:rPr lang="fi-FI" dirty="0" err="1"/>
              <a:t>agents</a:t>
            </a:r>
            <a:r>
              <a:rPr lang="fi-FI" dirty="0"/>
              <a:t> </a:t>
            </a:r>
            <a:r>
              <a:rPr lang="fi-FI" dirty="0" err="1"/>
              <a:t>running</a:t>
            </a:r>
            <a:r>
              <a:rPr lang="fi-FI" dirty="0"/>
              <a:t> on NVIDIA </a:t>
            </a:r>
            <a:r>
              <a:rPr lang="fi-FI" dirty="0" err="1"/>
              <a:t>Jetson</a:t>
            </a:r>
            <a:r>
              <a:rPr lang="fi-FI" dirty="0"/>
              <a:t> at the </a:t>
            </a:r>
            <a:r>
              <a:rPr lang="fi-FI" dirty="0" err="1"/>
              <a:t>construction</a:t>
            </a:r>
            <a:r>
              <a:rPr lang="fi-FI" dirty="0"/>
              <a:t> </a:t>
            </a:r>
            <a:r>
              <a:rPr lang="fi-FI" dirty="0" err="1"/>
              <a:t>site</a:t>
            </a:r>
            <a:endParaRPr lang="fi-FI" dirty="0"/>
          </a:p>
          <a:p>
            <a:r>
              <a:rPr lang="fi-FI" dirty="0"/>
              <a:t>&lt;100ms </a:t>
            </a:r>
            <a:r>
              <a:rPr lang="fi-FI" dirty="0" err="1"/>
              <a:t>inference</a:t>
            </a:r>
            <a:r>
              <a:rPr lang="fi-FI" dirty="0"/>
              <a:t> </a:t>
            </a:r>
            <a:r>
              <a:rPr lang="fi-FI" dirty="0" err="1"/>
              <a:t>decisions</a:t>
            </a:r>
            <a:endParaRPr lang="fi-FI" dirty="0"/>
          </a:p>
          <a:p>
            <a:r>
              <a:rPr lang="fi-FI" dirty="0" err="1"/>
              <a:t>Automated</a:t>
            </a:r>
            <a:r>
              <a:rPr lang="fi-FI" dirty="0"/>
              <a:t> </a:t>
            </a:r>
            <a:r>
              <a:rPr lang="fi-FI" dirty="0" err="1"/>
              <a:t>embodied-carbon</a:t>
            </a:r>
            <a:r>
              <a:rPr lang="fi-FI" dirty="0"/>
              <a:t> </a:t>
            </a:r>
            <a:r>
              <a:rPr lang="fi-FI" dirty="0" err="1"/>
              <a:t>tracking</a:t>
            </a:r>
            <a:r>
              <a:rPr lang="fi-FI" dirty="0"/>
              <a:t> and </a:t>
            </a:r>
            <a:r>
              <a:rPr lang="fi-FI" dirty="0" err="1"/>
              <a:t>material</a:t>
            </a:r>
            <a:r>
              <a:rPr lang="fi-FI" dirty="0"/>
              <a:t>/</a:t>
            </a:r>
            <a:r>
              <a:rPr lang="fi-FI" dirty="0" err="1"/>
              <a:t>supplier</a:t>
            </a:r>
            <a:r>
              <a:rPr lang="fi-FI" dirty="0"/>
              <a:t> </a:t>
            </a:r>
            <a:r>
              <a:rPr lang="fi-FI" dirty="0" err="1"/>
              <a:t>choices</a:t>
            </a:r>
            <a:endParaRPr lang="fi-FI" dirty="0"/>
          </a:p>
          <a:p>
            <a:r>
              <a:rPr lang="fi-FI" dirty="0" err="1"/>
              <a:t>Offline-capable</a:t>
            </a:r>
            <a:r>
              <a:rPr lang="fi-FI" dirty="0"/>
              <a:t>, </a:t>
            </a:r>
            <a:r>
              <a:rPr lang="fi-FI" dirty="0" err="1"/>
              <a:t>solar-friendly</a:t>
            </a:r>
            <a:r>
              <a:rPr lang="fi-FI" dirty="0"/>
              <a:t>, </a:t>
            </a:r>
            <a:r>
              <a:rPr lang="fi-FI" dirty="0" err="1"/>
              <a:t>built</a:t>
            </a:r>
            <a:r>
              <a:rPr lang="fi-FI" dirty="0"/>
              <a:t> for </a:t>
            </a:r>
            <a:r>
              <a:rPr lang="fi-FI" dirty="0" err="1"/>
              <a:t>rough</a:t>
            </a:r>
            <a:r>
              <a:rPr lang="fi-FI" dirty="0"/>
              <a:t> </a:t>
            </a:r>
            <a:r>
              <a:rPr lang="fi-FI" dirty="0" err="1"/>
              <a:t>environments</a:t>
            </a:r>
            <a:endParaRPr lang="fi-FI" dirty="0"/>
          </a:p>
          <a:p>
            <a:r>
              <a:rPr lang="fi-FI" dirty="0" err="1"/>
              <a:t>Use</a:t>
            </a:r>
            <a:r>
              <a:rPr lang="fi-FI" dirty="0"/>
              <a:t> </a:t>
            </a:r>
            <a:r>
              <a:rPr lang="fi-FI" dirty="0" err="1"/>
              <a:t>cases</a:t>
            </a:r>
            <a:r>
              <a:rPr lang="fi-FI" dirty="0"/>
              <a:t>: </a:t>
            </a:r>
            <a:r>
              <a:rPr lang="fi-FI" dirty="0" err="1"/>
              <a:t>carbon</a:t>
            </a:r>
            <a:r>
              <a:rPr lang="fi-FI" dirty="0"/>
              <a:t> </a:t>
            </a:r>
            <a:r>
              <a:rPr lang="fi-FI" dirty="0" err="1"/>
              <a:t>tracking</a:t>
            </a:r>
            <a:r>
              <a:rPr lang="fi-FI" dirty="0"/>
              <a:t>, </a:t>
            </a:r>
            <a:r>
              <a:rPr lang="fi-FI" dirty="0" err="1"/>
              <a:t>material</a:t>
            </a:r>
            <a:r>
              <a:rPr lang="fi-FI" dirty="0"/>
              <a:t> </a:t>
            </a:r>
            <a:r>
              <a:rPr lang="fi-FI" dirty="0" err="1"/>
              <a:t>decisions</a:t>
            </a:r>
            <a:r>
              <a:rPr lang="fi-FI" dirty="0"/>
              <a:t>, compliance automation</a:t>
            </a:r>
          </a:p>
          <a:p>
            <a:r>
              <a:rPr lang="fi-FI" b="1" dirty="0" err="1"/>
              <a:t>Slide</a:t>
            </a:r>
            <a:r>
              <a:rPr lang="fi-FI" b="1" dirty="0"/>
              <a:t> 4: </a:t>
            </a:r>
            <a:r>
              <a:rPr lang="fi-FI" b="1" dirty="0" err="1"/>
              <a:t>Why</a:t>
            </a:r>
            <a:r>
              <a:rPr lang="fi-FI" b="1" dirty="0"/>
              <a:t> </a:t>
            </a:r>
            <a:r>
              <a:rPr lang="fi-FI" b="1" dirty="0" err="1"/>
              <a:t>Now</a:t>
            </a:r>
            <a:r>
              <a:rPr lang="fi-FI" b="1" dirty="0"/>
              <a:t> – </a:t>
            </a:r>
            <a:r>
              <a:rPr lang="fi-FI" b="1" dirty="0" err="1"/>
              <a:t>Timing</a:t>
            </a:r>
            <a:r>
              <a:rPr lang="fi-FI" b="1" dirty="0"/>
              <a:t> &amp; Regulation</a:t>
            </a:r>
          </a:p>
          <a:p>
            <a:r>
              <a:rPr lang="fi-FI" dirty="0"/>
              <a:t>2028 </a:t>
            </a:r>
            <a:r>
              <a:rPr lang="fi-FI" dirty="0" err="1"/>
              <a:t>embodied</a:t>
            </a:r>
            <a:r>
              <a:rPr lang="fi-FI" dirty="0"/>
              <a:t> </a:t>
            </a:r>
            <a:r>
              <a:rPr lang="fi-FI" dirty="0" err="1"/>
              <a:t>carbon</a:t>
            </a:r>
            <a:r>
              <a:rPr lang="fi-FI" dirty="0"/>
              <a:t> </a:t>
            </a:r>
            <a:r>
              <a:rPr lang="fi-FI" dirty="0" err="1"/>
              <a:t>mandate</a:t>
            </a:r>
            <a:r>
              <a:rPr lang="fi-FI" dirty="0"/>
              <a:t> is a </a:t>
            </a:r>
            <a:r>
              <a:rPr lang="fi-FI" dirty="0" err="1"/>
              <a:t>hard</a:t>
            </a:r>
            <a:r>
              <a:rPr lang="fi-FI" dirty="0"/>
              <a:t> deadline (~24 </a:t>
            </a:r>
            <a:r>
              <a:rPr lang="fi-FI" dirty="0" err="1"/>
              <a:t>months</a:t>
            </a:r>
            <a:r>
              <a:rPr lang="fi-FI" dirty="0"/>
              <a:t> to </a:t>
            </a:r>
            <a:r>
              <a:rPr lang="fi-FI" dirty="0" err="1"/>
              <a:t>prepare</a:t>
            </a:r>
            <a:r>
              <a:rPr lang="fi-FI" dirty="0"/>
              <a:t>)</a:t>
            </a:r>
          </a:p>
          <a:p>
            <a:r>
              <a:rPr lang="fi-FI" dirty="0" err="1"/>
              <a:t>Fit</a:t>
            </a:r>
            <a:r>
              <a:rPr lang="fi-FI" dirty="0"/>
              <a:t> for 55 and Industry 5.0 </a:t>
            </a:r>
            <a:r>
              <a:rPr lang="fi-FI" dirty="0" err="1"/>
              <a:t>driving</a:t>
            </a:r>
            <a:r>
              <a:rPr lang="fi-FI" dirty="0"/>
              <a:t> digital-</a:t>
            </a:r>
            <a:r>
              <a:rPr lang="fi-FI" dirty="0" err="1"/>
              <a:t>green</a:t>
            </a:r>
            <a:r>
              <a:rPr lang="fi-FI" dirty="0"/>
              <a:t> transition (€1T+ EU investment)</a:t>
            </a:r>
          </a:p>
          <a:p>
            <a:r>
              <a:rPr lang="fi-FI" dirty="0"/>
              <a:t>Cloud-</a:t>
            </a:r>
            <a:r>
              <a:rPr lang="fi-FI" dirty="0" err="1"/>
              <a:t>only</a:t>
            </a:r>
            <a:r>
              <a:rPr lang="fi-FI" dirty="0"/>
              <a:t> AI </a:t>
            </a:r>
            <a:r>
              <a:rPr lang="fi-FI" dirty="0" err="1"/>
              <a:t>too</a:t>
            </a:r>
            <a:r>
              <a:rPr lang="fi-FI" dirty="0"/>
              <a:t> </a:t>
            </a:r>
            <a:r>
              <a:rPr lang="fi-FI" dirty="0" err="1"/>
              <a:t>slow</a:t>
            </a:r>
            <a:r>
              <a:rPr lang="fi-FI" dirty="0"/>
              <a:t>/</a:t>
            </a:r>
            <a:r>
              <a:rPr lang="fi-FI" dirty="0" err="1"/>
              <a:t>expensive</a:t>
            </a:r>
            <a:r>
              <a:rPr lang="fi-FI" dirty="0"/>
              <a:t> for </a:t>
            </a:r>
            <a:r>
              <a:rPr lang="fi-FI" dirty="0" err="1"/>
              <a:t>continuous</a:t>
            </a:r>
            <a:r>
              <a:rPr lang="fi-FI" dirty="0"/>
              <a:t> </a:t>
            </a:r>
            <a:r>
              <a:rPr lang="fi-FI" dirty="0" err="1"/>
              <a:t>site-level</a:t>
            </a:r>
            <a:r>
              <a:rPr lang="fi-FI" dirty="0"/>
              <a:t> </a:t>
            </a:r>
            <a:r>
              <a:rPr lang="fi-FI" dirty="0" err="1"/>
              <a:t>decisions</a:t>
            </a:r>
            <a:r>
              <a:rPr lang="fi-FI" dirty="0"/>
              <a:t> (25× faster at </a:t>
            </a:r>
            <a:r>
              <a:rPr lang="fi-FI" dirty="0" err="1"/>
              <a:t>edge</a:t>
            </a:r>
            <a:r>
              <a:rPr lang="fi-FI" dirty="0"/>
              <a:t>)</a:t>
            </a:r>
          </a:p>
          <a:p>
            <a:r>
              <a:rPr lang="fi-FI" b="1" dirty="0" err="1"/>
              <a:t>Slide</a:t>
            </a:r>
            <a:r>
              <a:rPr lang="fi-FI" b="1" dirty="0"/>
              <a:t> 5: Tech Architecture &amp; </a:t>
            </a:r>
            <a:r>
              <a:rPr lang="fi-FI" b="1" dirty="0" err="1"/>
              <a:t>Moat</a:t>
            </a:r>
            <a:endParaRPr lang="fi-FI" b="1" dirty="0"/>
          </a:p>
          <a:p>
            <a:r>
              <a:rPr lang="fi-FI" b="1" dirty="0" err="1"/>
              <a:t>Hybrid</a:t>
            </a:r>
            <a:r>
              <a:rPr lang="fi-FI" b="1" dirty="0"/>
              <a:t> </a:t>
            </a:r>
            <a:r>
              <a:rPr lang="fi-FI" b="1" dirty="0" err="1"/>
              <a:t>Stack</a:t>
            </a:r>
            <a:r>
              <a:rPr lang="fi-FI" b="1" dirty="0"/>
              <a:t>:</a:t>
            </a:r>
            <a:endParaRPr lang="fi-FI" dirty="0"/>
          </a:p>
          <a:p>
            <a:r>
              <a:rPr lang="fi-FI" dirty="0"/>
              <a:t>Edge </a:t>
            </a:r>
            <a:r>
              <a:rPr lang="fi-FI" dirty="0" err="1"/>
              <a:t>Layer</a:t>
            </a:r>
            <a:r>
              <a:rPr lang="fi-FI" dirty="0"/>
              <a:t>: AWS </a:t>
            </a:r>
            <a:r>
              <a:rPr lang="fi-FI" dirty="0" err="1"/>
              <a:t>IoT</a:t>
            </a:r>
            <a:r>
              <a:rPr lang="fi-FI" dirty="0"/>
              <a:t> </a:t>
            </a:r>
            <a:r>
              <a:rPr lang="fi-FI" dirty="0" err="1"/>
              <a:t>Greengrass</a:t>
            </a:r>
            <a:r>
              <a:rPr lang="fi-FI" dirty="0"/>
              <a:t> + NVIDIA </a:t>
            </a:r>
            <a:r>
              <a:rPr lang="fi-FI" dirty="0" err="1"/>
              <a:t>Jetson</a:t>
            </a:r>
            <a:r>
              <a:rPr lang="fi-FI" dirty="0"/>
              <a:t> Orin Nano</a:t>
            </a:r>
          </a:p>
          <a:p>
            <a:r>
              <a:rPr lang="fi-FI" dirty="0" err="1"/>
              <a:t>Core</a:t>
            </a:r>
            <a:r>
              <a:rPr lang="fi-FI" dirty="0"/>
              <a:t> Platform: Google Cloud Run + Groq API + </a:t>
            </a:r>
            <a:r>
              <a:rPr lang="fi-FI" dirty="0" err="1"/>
              <a:t>LlamaStack</a:t>
            </a:r>
            <a:endParaRPr lang="fi-FI" dirty="0"/>
          </a:p>
          <a:p>
            <a:r>
              <a:rPr lang="fi-FI" dirty="0"/>
              <a:t>Client: Chromebook PWA</a:t>
            </a:r>
          </a:p>
          <a:p>
            <a:r>
              <a:rPr lang="fi-FI" dirty="0"/>
              <a:t>Data: Supabase (</a:t>
            </a:r>
            <a:r>
              <a:rPr lang="fi-FI" dirty="0" err="1"/>
              <a:t>hot</a:t>
            </a:r>
            <a:r>
              <a:rPr lang="fi-FI" dirty="0"/>
              <a:t>) + AWS S3 (</a:t>
            </a:r>
            <a:r>
              <a:rPr lang="fi-FI" dirty="0" err="1"/>
              <a:t>cold</a:t>
            </a:r>
            <a:r>
              <a:rPr lang="fi-FI" dirty="0"/>
              <a:t>)</a:t>
            </a:r>
          </a:p>
          <a:p>
            <a:r>
              <a:rPr lang="fi-FI" b="1" dirty="0"/>
              <a:t>Key </a:t>
            </a:r>
            <a:r>
              <a:rPr lang="fi-FI" b="1" dirty="0" err="1"/>
              <a:t>Metrics</a:t>
            </a:r>
            <a:r>
              <a:rPr lang="fi-FI" b="1" dirty="0"/>
              <a:t>:</a:t>
            </a:r>
            <a:endParaRPr lang="fi-FI" dirty="0"/>
          </a:p>
          <a:p>
            <a:r>
              <a:rPr lang="fi-FI" dirty="0"/>
              <a:t>515% hardware ROI annually</a:t>
            </a:r>
          </a:p>
          <a:p>
            <a:r>
              <a:rPr lang="fi-FI" dirty="0"/>
              <a:t>1.95-month </a:t>
            </a:r>
            <a:r>
              <a:rPr lang="fi-FI" dirty="0" err="1"/>
              <a:t>payback</a:t>
            </a:r>
            <a:r>
              <a:rPr lang="fi-FI" dirty="0"/>
              <a:t> per </a:t>
            </a:r>
            <a:r>
              <a:rPr lang="fi-FI" dirty="0" err="1"/>
              <a:t>device</a:t>
            </a:r>
            <a:endParaRPr lang="fi-FI" dirty="0"/>
          </a:p>
          <a:p>
            <a:r>
              <a:rPr lang="fi-FI" dirty="0"/>
              <a:t>25× faster </a:t>
            </a:r>
            <a:r>
              <a:rPr lang="fi-FI" dirty="0" err="1"/>
              <a:t>than</a:t>
            </a:r>
            <a:r>
              <a:rPr lang="fi-FI" dirty="0"/>
              <a:t> cloud </a:t>
            </a:r>
            <a:r>
              <a:rPr lang="fi-FI" dirty="0" err="1"/>
              <a:t>inference</a:t>
            </a:r>
            <a:endParaRPr lang="fi-FI" dirty="0"/>
          </a:p>
          <a:p>
            <a:r>
              <a:rPr lang="fi-FI" dirty="0"/>
              <a:t>€135k in startup </a:t>
            </a:r>
            <a:r>
              <a:rPr lang="fi-FI" dirty="0" err="1"/>
              <a:t>credits</a:t>
            </a:r>
            <a:r>
              <a:rPr lang="fi-FI" dirty="0"/>
              <a:t> = 6 </a:t>
            </a:r>
            <a:r>
              <a:rPr lang="fi-FI" dirty="0" err="1"/>
              <a:t>years</a:t>
            </a:r>
            <a:r>
              <a:rPr lang="fi-FI" dirty="0"/>
              <a:t> </a:t>
            </a:r>
            <a:r>
              <a:rPr lang="fi-FI" dirty="0" err="1"/>
              <a:t>infrastructure</a:t>
            </a:r>
            <a:r>
              <a:rPr lang="fi-FI" dirty="0"/>
              <a:t> </a:t>
            </a:r>
            <a:r>
              <a:rPr lang="fi-FI" dirty="0" err="1"/>
              <a:t>runway</a:t>
            </a:r>
            <a:endParaRPr lang="fi-FI" dirty="0"/>
          </a:p>
          <a:p>
            <a:r>
              <a:rPr lang="fi-FI" b="1" dirty="0" err="1"/>
              <a:t>Slide</a:t>
            </a:r>
            <a:r>
              <a:rPr lang="fi-FI" b="1" dirty="0"/>
              <a:t> 6: Market &amp; Focus</a:t>
            </a:r>
          </a:p>
          <a:p>
            <a:r>
              <a:rPr lang="fi-FI" b="1" dirty="0"/>
              <a:t>Market </a:t>
            </a:r>
            <a:r>
              <a:rPr lang="fi-FI" b="1" dirty="0" err="1"/>
              <a:t>Size</a:t>
            </a:r>
            <a:r>
              <a:rPr lang="fi-FI" b="1" dirty="0"/>
              <a:t>:</a:t>
            </a:r>
            <a:r>
              <a:rPr lang="fi-FI" dirty="0"/>
              <a:t> 3.5M </a:t>
            </a:r>
            <a:r>
              <a:rPr lang="fi-FI" dirty="0" err="1"/>
              <a:t>construction</a:t>
            </a:r>
            <a:r>
              <a:rPr lang="fi-FI" dirty="0"/>
              <a:t> </a:t>
            </a:r>
            <a:r>
              <a:rPr lang="fi-FI" dirty="0" err="1"/>
              <a:t>companies</a:t>
            </a:r>
            <a:r>
              <a:rPr lang="fi-FI" dirty="0"/>
              <a:t> in Europe</a:t>
            </a:r>
          </a:p>
          <a:p>
            <a:r>
              <a:rPr lang="fi-FI" dirty="0"/>
              <a:t>UK: 500k </a:t>
            </a:r>
            <a:r>
              <a:rPr lang="fi-FI" dirty="0" err="1"/>
              <a:t>companies</a:t>
            </a:r>
            <a:endParaRPr lang="fi-FI" dirty="0"/>
          </a:p>
          <a:p>
            <a:r>
              <a:rPr lang="fi-FI" dirty="0"/>
              <a:t>Spain: 489k </a:t>
            </a:r>
            <a:r>
              <a:rPr lang="fi-FI" dirty="0" err="1"/>
              <a:t>companies</a:t>
            </a:r>
            <a:endParaRPr lang="fi-FI" dirty="0"/>
          </a:p>
          <a:p>
            <a:r>
              <a:rPr lang="fi-FI" dirty="0"/>
              <a:t>France: 397k </a:t>
            </a:r>
            <a:r>
              <a:rPr lang="fi-FI" dirty="0" err="1"/>
              <a:t>companies</a:t>
            </a:r>
            <a:endParaRPr lang="fi-FI" dirty="0"/>
          </a:p>
          <a:p>
            <a:r>
              <a:rPr lang="fi-FI" b="1" dirty="0"/>
              <a:t>Go-to-Market Strategy:</a:t>
            </a:r>
            <a:endParaRPr lang="fi-FI" dirty="0"/>
          </a:p>
          <a:p>
            <a:r>
              <a:rPr lang="fi-FI" b="1" dirty="0" err="1"/>
              <a:t>Tier</a:t>
            </a:r>
            <a:r>
              <a:rPr lang="fi-FI" b="1" dirty="0"/>
              <a:t> 1:</a:t>
            </a:r>
            <a:r>
              <a:rPr lang="fi-FI" dirty="0"/>
              <a:t> </a:t>
            </a:r>
            <a:r>
              <a:rPr lang="fi-FI" dirty="0" err="1"/>
              <a:t>Lighthouse</a:t>
            </a:r>
            <a:r>
              <a:rPr lang="fi-FI" dirty="0"/>
              <a:t> </a:t>
            </a:r>
            <a:r>
              <a:rPr lang="fi-FI" dirty="0" err="1"/>
              <a:t>projects</a:t>
            </a:r>
            <a:r>
              <a:rPr lang="fi-FI" dirty="0"/>
              <a:t> with Vinci, Bouygues, ACS, </a:t>
            </a:r>
            <a:r>
              <a:rPr lang="fi-FI" dirty="0" err="1"/>
              <a:t>Strabag</a:t>
            </a:r>
            <a:r>
              <a:rPr lang="fi-FI" dirty="0"/>
              <a:t>, </a:t>
            </a:r>
            <a:r>
              <a:rPr lang="fi-FI" dirty="0" err="1"/>
              <a:t>Hochtief</a:t>
            </a:r>
            <a:endParaRPr lang="fi-FI" dirty="0"/>
          </a:p>
          <a:p>
            <a:r>
              <a:rPr lang="fi-FI" b="1" dirty="0" err="1"/>
              <a:t>Tier</a:t>
            </a:r>
            <a:r>
              <a:rPr lang="fi-FI" b="1" dirty="0"/>
              <a:t> 2:</a:t>
            </a:r>
            <a:r>
              <a:rPr lang="fi-FI" dirty="0"/>
              <a:t> </a:t>
            </a:r>
            <a:r>
              <a:rPr lang="fi-FI" dirty="0" err="1"/>
              <a:t>Regional</a:t>
            </a:r>
            <a:r>
              <a:rPr lang="fi-FI" dirty="0"/>
              <a:t> </a:t>
            </a:r>
            <a:r>
              <a:rPr lang="fi-FI" dirty="0" err="1"/>
              <a:t>contractors</a:t>
            </a:r>
            <a:r>
              <a:rPr lang="fi-FI" dirty="0"/>
              <a:t> (</a:t>
            </a:r>
            <a:r>
              <a:rPr lang="fi-FI" dirty="0" err="1"/>
              <a:t>Porr</a:t>
            </a:r>
            <a:r>
              <a:rPr lang="fi-FI" dirty="0"/>
              <a:t>, </a:t>
            </a:r>
            <a:r>
              <a:rPr lang="fi-FI" dirty="0" err="1"/>
              <a:t>Eiffage</a:t>
            </a:r>
            <a:r>
              <a:rPr lang="fi-FI" dirty="0"/>
              <a:t>, Skanska, Royal BAM, </a:t>
            </a:r>
            <a:r>
              <a:rPr lang="fi-FI" dirty="0" err="1"/>
              <a:t>Balfour</a:t>
            </a:r>
            <a:r>
              <a:rPr lang="fi-FI" dirty="0"/>
              <a:t> </a:t>
            </a:r>
            <a:r>
              <a:rPr lang="fi-FI" dirty="0" err="1"/>
              <a:t>Beatty</a:t>
            </a:r>
            <a:r>
              <a:rPr lang="fi-FI" dirty="0"/>
              <a:t>)</a:t>
            </a:r>
          </a:p>
          <a:p>
            <a:r>
              <a:rPr lang="fi-FI" b="1" dirty="0" err="1"/>
              <a:t>Tier</a:t>
            </a:r>
            <a:r>
              <a:rPr lang="fi-FI" b="1" dirty="0"/>
              <a:t> 3:</a:t>
            </a:r>
            <a:r>
              <a:rPr lang="fi-FI" dirty="0"/>
              <a:t> SME </a:t>
            </a:r>
            <a:r>
              <a:rPr lang="fi-FI" dirty="0" err="1"/>
              <a:t>scale</a:t>
            </a:r>
            <a:r>
              <a:rPr lang="fi-FI" dirty="0"/>
              <a:t> for </a:t>
            </a:r>
            <a:r>
              <a:rPr lang="fi-FI" dirty="0" err="1"/>
              <a:t>volume</a:t>
            </a:r>
            <a:r>
              <a:rPr lang="fi-FI" dirty="0"/>
              <a:t> play</a:t>
            </a:r>
          </a:p>
          <a:p>
            <a:r>
              <a:rPr lang="fi-FI" b="1" dirty="0"/>
              <a:t>Long-</a:t>
            </a:r>
            <a:r>
              <a:rPr lang="fi-FI" b="1" dirty="0" err="1"/>
              <a:t>term</a:t>
            </a:r>
            <a:r>
              <a:rPr lang="fi-FI" b="1" dirty="0"/>
              <a:t>:</a:t>
            </a:r>
            <a:r>
              <a:rPr lang="fi-FI" dirty="0"/>
              <a:t> Manufacturing, </a:t>
            </a:r>
            <a:r>
              <a:rPr lang="fi-FI" dirty="0" err="1"/>
              <a:t>logistics</a:t>
            </a:r>
            <a:r>
              <a:rPr lang="fi-FI" dirty="0"/>
              <a:t>, </a:t>
            </a:r>
            <a:r>
              <a:rPr lang="fi-FI" dirty="0" err="1"/>
              <a:t>real</a:t>
            </a:r>
            <a:r>
              <a:rPr lang="fi-FI" dirty="0"/>
              <a:t> </a:t>
            </a:r>
            <a:r>
              <a:rPr lang="fi-FI" dirty="0" err="1"/>
              <a:t>estate</a:t>
            </a:r>
            <a:endParaRPr lang="fi-FI" dirty="0"/>
          </a:p>
          <a:p>
            <a:r>
              <a:rPr lang="fi-FI" b="1" dirty="0" err="1"/>
              <a:t>Slide</a:t>
            </a:r>
            <a:r>
              <a:rPr lang="fi-FI" b="1" dirty="0"/>
              <a:t> 7: </a:t>
            </a:r>
            <a:r>
              <a:rPr lang="fi-FI" b="1" dirty="0" err="1"/>
              <a:t>Traction</a:t>
            </a:r>
            <a:r>
              <a:rPr lang="fi-FI" b="1" dirty="0"/>
              <a:t> &amp; </a:t>
            </a:r>
            <a:r>
              <a:rPr lang="fi-FI" b="1" dirty="0" err="1"/>
              <a:t>Validation</a:t>
            </a:r>
            <a:endParaRPr lang="fi-FI" b="1" dirty="0"/>
          </a:p>
          <a:p>
            <a:r>
              <a:rPr lang="fi-FI" dirty="0"/>
              <a:t>~€140k in </a:t>
            </a:r>
            <a:r>
              <a:rPr lang="fi-FI" dirty="0" err="1"/>
              <a:t>revenue</a:t>
            </a:r>
            <a:r>
              <a:rPr lang="fi-FI" dirty="0"/>
              <a:t> from </a:t>
            </a:r>
            <a:r>
              <a:rPr lang="fi-FI" dirty="0" err="1"/>
              <a:t>early</a:t>
            </a:r>
            <a:r>
              <a:rPr lang="fi-FI" dirty="0"/>
              <a:t> </a:t>
            </a:r>
            <a:r>
              <a:rPr lang="fi-FI" dirty="0" err="1"/>
              <a:t>customers</a:t>
            </a:r>
            <a:r>
              <a:rPr lang="fi-FI" dirty="0"/>
              <a:t>/</a:t>
            </a:r>
            <a:r>
              <a:rPr lang="fi-FI" dirty="0" err="1"/>
              <a:t>pilots</a:t>
            </a:r>
            <a:endParaRPr lang="fi-FI" dirty="0"/>
          </a:p>
          <a:p>
            <a:r>
              <a:rPr lang="fi-FI" dirty="0"/>
              <a:t>€333k/</a:t>
            </a:r>
            <a:r>
              <a:rPr lang="fi-FI" dirty="0" err="1"/>
              <a:t>year</a:t>
            </a:r>
            <a:r>
              <a:rPr lang="fi-FI" dirty="0"/>
              <a:t> </a:t>
            </a:r>
            <a:r>
              <a:rPr lang="fi-FI" dirty="0" err="1"/>
              <a:t>projected</a:t>
            </a:r>
            <a:r>
              <a:rPr lang="fi-FI" dirty="0"/>
              <a:t> cloud-</a:t>
            </a:r>
            <a:r>
              <a:rPr lang="fi-FI" dirty="0" err="1"/>
              <a:t>cost</a:t>
            </a:r>
            <a:r>
              <a:rPr lang="fi-FI" dirty="0"/>
              <a:t> </a:t>
            </a:r>
            <a:r>
              <a:rPr lang="fi-FI" dirty="0" err="1"/>
              <a:t>savings</a:t>
            </a:r>
            <a:r>
              <a:rPr lang="fi-FI" dirty="0"/>
              <a:t> </a:t>
            </a:r>
            <a:r>
              <a:rPr lang="fi-FI" dirty="0" err="1"/>
              <a:t>vs</a:t>
            </a:r>
            <a:r>
              <a:rPr lang="fi-FI" dirty="0"/>
              <a:t> pure-cloud </a:t>
            </a:r>
            <a:r>
              <a:rPr lang="fi-FI" dirty="0" err="1"/>
              <a:t>competitors</a:t>
            </a:r>
            <a:endParaRPr lang="fi-FI" dirty="0"/>
          </a:p>
          <a:p>
            <a:r>
              <a:rPr lang="fi-FI" dirty="0"/>
              <a:t>2026 </a:t>
            </a:r>
            <a:r>
              <a:rPr lang="fi-FI" dirty="0" err="1"/>
              <a:t>plan</a:t>
            </a:r>
            <a:r>
              <a:rPr lang="fi-FI" dirty="0"/>
              <a:t>: 2-3 </a:t>
            </a:r>
            <a:r>
              <a:rPr lang="fi-FI" dirty="0" err="1"/>
              <a:t>paid</a:t>
            </a:r>
            <a:r>
              <a:rPr lang="fi-FI" dirty="0"/>
              <a:t> </a:t>
            </a:r>
            <a:r>
              <a:rPr lang="fi-FI" dirty="0" err="1"/>
              <a:t>pilots</a:t>
            </a:r>
            <a:r>
              <a:rPr lang="fi-FI" dirty="0"/>
              <a:t> with EU </a:t>
            </a:r>
            <a:r>
              <a:rPr lang="fi-FI" dirty="0" err="1"/>
              <a:t>construction</a:t>
            </a:r>
            <a:r>
              <a:rPr lang="fi-FI" dirty="0"/>
              <a:t> </a:t>
            </a:r>
            <a:r>
              <a:rPr lang="fi-FI" dirty="0" err="1"/>
              <a:t>partners</a:t>
            </a:r>
            <a:endParaRPr lang="fi-FI" dirty="0"/>
          </a:p>
          <a:p>
            <a:r>
              <a:rPr lang="fi-FI" b="1" dirty="0"/>
              <a:t>Startup Program </a:t>
            </a:r>
            <a:r>
              <a:rPr lang="fi-FI" b="1" dirty="0" err="1"/>
              <a:t>Wins</a:t>
            </a:r>
            <a:r>
              <a:rPr lang="fi-FI" b="1" dirty="0"/>
              <a:t>:</a:t>
            </a:r>
            <a:endParaRPr lang="fi-FI" dirty="0"/>
          </a:p>
          <a:p>
            <a:r>
              <a:rPr lang="fi-FI" dirty="0"/>
              <a:t>AWS for </a:t>
            </a:r>
            <a:r>
              <a:rPr lang="fi-FI" dirty="0" err="1"/>
              <a:t>Startups</a:t>
            </a:r>
            <a:r>
              <a:rPr lang="fi-FI" dirty="0"/>
              <a:t>: $25,000 </a:t>
            </a:r>
            <a:r>
              <a:rPr lang="fi-FI" dirty="0" err="1"/>
              <a:t>credits</a:t>
            </a:r>
            <a:endParaRPr lang="fi-FI" dirty="0"/>
          </a:p>
          <a:p>
            <a:r>
              <a:rPr lang="fi-FI" dirty="0"/>
              <a:t>Google for </a:t>
            </a:r>
            <a:r>
              <a:rPr lang="fi-FI" dirty="0" err="1"/>
              <a:t>Startups</a:t>
            </a:r>
            <a:r>
              <a:rPr lang="fi-FI" dirty="0"/>
              <a:t>: $100,000 </a:t>
            </a:r>
            <a:r>
              <a:rPr lang="fi-FI" dirty="0" err="1"/>
              <a:t>credits</a:t>
            </a:r>
            <a:endParaRPr lang="fi-FI" dirty="0"/>
          </a:p>
          <a:p>
            <a:r>
              <a:rPr lang="fi-FI" dirty="0"/>
              <a:t>Groq for </a:t>
            </a:r>
            <a:r>
              <a:rPr lang="fi-FI" dirty="0" err="1"/>
              <a:t>Startups</a:t>
            </a:r>
            <a:r>
              <a:rPr lang="fi-FI" dirty="0"/>
              <a:t>: $10,000 </a:t>
            </a:r>
            <a:r>
              <a:rPr lang="fi-FI" dirty="0" err="1"/>
              <a:t>credits</a:t>
            </a:r>
            <a:endParaRPr lang="fi-FI" dirty="0"/>
          </a:p>
          <a:p>
            <a:r>
              <a:rPr lang="fi-FI" dirty="0"/>
              <a:t>GitHub Enterprise: 20 </a:t>
            </a:r>
            <a:r>
              <a:rPr lang="fi-FI" dirty="0" err="1"/>
              <a:t>seats</a:t>
            </a:r>
            <a:r>
              <a:rPr lang="fi-FI" dirty="0"/>
              <a:t> + CI/CD</a:t>
            </a:r>
          </a:p>
          <a:p>
            <a:r>
              <a:rPr lang="fi-FI" b="1" dirty="0" err="1"/>
              <a:t>Slide</a:t>
            </a:r>
            <a:r>
              <a:rPr lang="fi-FI" b="1" dirty="0"/>
              <a:t> 8: Business </a:t>
            </a:r>
            <a:r>
              <a:rPr lang="fi-FI" b="1" dirty="0" err="1"/>
              <a:t>Model</a:t>
            </a:r>
            <a:r>
              <a:rPr lang="fi-FI" b="1" dirty="0"/>
              <a:t> &amp; </a:t>
            </a:r>
            <a:r>
              <a:rPr lang="fi-FI" b="1" dirty="0" err="1"/>
              <a:t>Unit</a:t>
            </a:r>
            <a:r>
              <a:rPr lang="fi-FI" b="1" dirty="0"/>
              <a:t> </a:t>
            </a:r>
            <a:r>
              <a:rPr lang="fi-FI" b="1" dirty="0" err="1"/>
              <a:t>Economics</a:t>
            </a:r>
            <a:endParaRPr lang="fi-FI" b="1" dirty="0"/>
          </a:p>
          <a:p>
            <a:r>
              <a:rPr lang="fi-FI" b="1" dirty="0" err="1"/>
              <a:t>Revenue</a:t>
            </a:r>
            <a:r>
              <a:rPr lang="fi-FI" b="1" dirty="0"/>
              <a:t> </a:t>
            </a:r>
            <a:r>
              <a:rPr lang="fi-FI" b="1" dirty="0" err="1"/>
              <a:t>Model</a:t>
            </a:r>
            <a:r>
              <a:rPr lang="fi-FI" b="1" dirty="0"/>
              <a:t>:</a:t>
            </a:r>
            <a:endParaRPr lang="fi-FI" dirty="0"/>
          </a:p>
          <a:p>
            <a:r>
              <a:rPr lang="fi-FI" dirty="0"/>
              <a:t>SaaS </a:t>
            </a:r>
            <a:r>
              <a:rPr lang="fi-FI" dirty="0" err="1"/>
              <a:t>platform</a:t>
            </a:r>
            <a:r>
              <a:rPr lang="fi-FI" dirty="0"/>
              <a:t>: </a:t>
            </a:r>
            <a:r>
              <a:rPr lang="fi-FI" dirty="0" err="1"/>
              <a:t>Annual</a:t>
            </a:r>
            <a:r>
              <a:rPr lang="fi-FI" dirty="0"/>
              <a:t> </a:t>
            </a:r>
            <a:r>
              <a:rPr lang="fi-FI" dirty="0" err="1"/>
              <a:t>subscription</a:t>
            </a:r>
            <a:endParaRPr lang="fi-FI" dirty="0"/>
          </a:p>
          <a:p>
            <a:r>
              <a:rPr lang="fi-FI" dirty="0"/>
              <a:t>Edge hardware: Per-</a:t>
            </a:r>
            <a:r>
              <a:rPr lang="fi-FI" dirty="0" err="1"/>
              <a:t>site</a:t>
            </a:r>
            <a:r>
              <a:rPr lang="fi-FI" dirty="0"/>
              <a:t> </a:t>
            </a:r>
            <a:r>
              <a:rPr lang="fi-FI" dirty="0" err="1"/>
              <a:t>pricing</a:t>
            </a:r>
            <a:endParaRPr lang="fi-FI" dirty="0"/>
          </a:p>
          <a:p>
            <a:r>
              <a:rPr lang="fi-FI" dirty="0" err="1"/>
              <a:t>Example</a:t>
            </a:r>
            <a:r>
              <a:rPr lang="fi-FI" dirty="0"/>
              <a:t> </a:t>
            </a:r>
            <a:r>
              <a:rPr lang="fi-FI" dirty="0" err="1"/>
              <a:t>pilot</a:t>
            </a:r>
            <a:r>
              <a:rPr lang="fi-FI" dirty="0"/>
              <a:t> </a:t>
            </a:r>
            <a:r>
              <a:rPr lang="fi-FI" dirty="0" err="1"/>
              <a:t>economics</a:t>
            </a:r>
            <a:r>
              <a:rPr lang="fi-FI" dirty="0"/>
              <a:t>: €50-100k </a:t>
            </a:r>
            <a:r>
              <a:rPr lang="fi-FI" dirty="0" err="1"/>
              <a:t>annual</a:t>
            </a:r>
            <a:r>
              <a:rPr lang="fi-FI" dirty="0"/>
              <a:t> </a:t>
            </a:r>
            <a:r>
              <a:rPr lang="fi-FI" dirty="0" err="1"/>
              <a:t>savings</a:t>
            </a:r>
            <a:r>
              <a:rPr lang="fi-FI" dirty="0"/>
              <a:t> per customer</a:t>
            </a:r>
          </a:p>
          <a:p>
            <a:r>
              <a:rPr lang="fi-FI" b="1" dirty="0"/>
              <a:t>Customer Value:</a:t>
            </a:r>
            <a:endParaRPr lang="fi-FI" dirty="0"/>
          </a:p>
          <a:p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OptionAnnual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CostManual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compliance (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consultants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)€80-150kCloud-only AI alternative€40-60kDWS IQ 6 (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edge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SaaS)€15-30k</a:t>
            </a:r>
            <a:r>
              <a:rPr lang="fi-FI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Net customer savings€50-120k</a:t>
            </a:r>
            <a:endParaRPr lang="fi-FI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i-FI" b="1" dirty="0" err="1"/>
              <a:t>Margin</a:t>
            </a:r>
            <a:r>
              <a:rPr lang="fi-FI" b="1" dirty="0"/>
              <a:t> </a:t>
            </a:r>
            <a:r>
              <a:rPr lang="fi-FI" b="1" dirty="0" err="1"/>
              <a:t>Targets</a:t>
            </a:r>
            <a:r>
              <a:rPr lang="fi-FI" b="1" dirty="0"/>
              <a:t>:</a:t>
            </a:r>
            <a:r>
              <a:rPr lang="fi-FI" dirty="0"/>
              <a:t> 70-80% </a:t>
            </a:r>
            <a:r>
              <a:rPr lang="fi-FI" dirty="0" err="1"/>
              <a:t>gross</a:t>
            </a:r>
            <a:r>
              <a:rPr lang="fi-FI" dirty="0"/>
              <a:t> </a:t>
            </a:r>
            <a:r>
              <a:rPr lang="fi-FI" dirty="0" err="1"/>
              <a:t>margin</a:t>
            </a:r>
            <a:r>
              <a:rPr lang="fi-FI" dirty="0"/>
              <a:t>, LTV:CAC 5:1+</a:t>
            </a:r>
          </a:p>
          <a:p>
            <a:r>
              <a:rPr lang="fi-FI" b="1" dirty="0" err="1"/>
              <a:t>Slide</a:t>
            </a:r>
            <a:r>
              <a:rPr lang="fi-FI" b="1" dirty="0"/>
              <a:t> 9: </a:t>
            </a:r>
            <a:r>
              <a:rPr lang="fi-FI" b="1" dirty="0" err="1"/>
              <a:t>Round</a:t>
            </a:r>
            <a:r>
              <a:rPr lang="fi-FI" b="1" dirty="0"/>
              <a:t> &amp; </a:t>
            </a:r>
            <a:r>
              <a:rPr lang="fi-FI" b="1" dirty="0" err="1"/>
              <a:t>Use</a:t>
            </a:r>
            <a:r>
              <a:rPr lang="fi-FI" b="1" dirty="0"/>
              <a:t> of </a:t>
            </a:r>
            <a:r>
              <a:rPr lang="fi-FI" b="1" dirty="0" err="1"/>
              <a:t>Funds</a:t>
            </a:r>
            <a:endParaRPr lang="fi-FI" b="1" dirty="0"/>
          </a:p>
          <a:p>
            <a:r>
              <a:rPr lang="fi-FI" b="1" dirty="0"/>
              <a:t>The </a:t>
            </a:r>
            <a:r>
              <a:rPr lang="fi-FI" b="1" dirty="0" err="1"/>
              <a:t>Ask</a:t>
            </a:r>
            <a:r>
              <a:rPr lang="fi-FI" b="1" dirty="0"/>
              <a:t>:</a:t>
            </a:r>
            <a:r>
              <a:rPr lang="fi-FI" dirty="0"/>
              <a:t> €150k SAFE @ €3.8M </a:t>
            </a:r>
            <a:r>
              <a:rPr lang="fi-FI" dirty="0" err="1"/>
              <a:t>cap</a:t>
            </a:r>
            <a:r>
              <a:rPr lang="fi-FI" dirty="0"/>
              <a:t>, 20% </a:t>
            </a:r>
            <a:r>
              <a:rPr lang="fi-FI" dirty="0" err="1"/>
              <a:t>discount</a:t>
            </a:r>
            <a:endParaRPr lang="fi-FI" dirty="0"/>
          </a:p>
          <a:p>
            <a:r>
              <a:rPr lang="fi-FI" b="1" dirty="0" err="1"/>
              <a:t>Use</a:t>
            </a:r>
            <a:r>
              <a:rPr lang="fi-FI" b="1" dirty="0"/>
              <a:t> of </a:t>
            </a:r>
            <a:r>
              <a:rPr lang="fi-FI" b="1" dirty="0" err="1"/>
              <a:t>Funds</a:t>
            </a:r>
            <a:r>
              <a:rPr lang="fi-FI" b="1" dirty="0"/>
              <a:t> (12 </a:t>
            </a:r>
            <a:r>
              <a:rPr lang="fi-FI" b="1" dirty="0" err="1"/>
              <a:t>months</a:t>
            </a:r>
            <a:r>
              <a:rPr lang="fi-FI" b="1" dirty="0"/>
              <a:t>):</a:t>
            </a:r>
            <a:endParaRPr lang="fi-FI" dirty="0"/>
          </a:p>
          <a:p>
            <a:r>
              <a:rPr lang="fi-FI" dirty="0"/>
              <a:t>40% Product V1 for </a:t>
            </a:r>
            <a:r>
              <a:rPr lang="fi-FI" dirty="0" err="1"/>
              <a:t>construction</a:t>
            </a:r>
            <a:endParaRPr lang="fi-FI" dirty="0"/>
          </a:p>
          <a:p>
            <a:r>
              <a:rPr lang="fi-FI" dirty="0"/>
              <a:t>35% 2-3 </a:t>
            </a:r>
            <a:r>
              <a:rPr lang="fi-FI" dirty="0" err="1"/>
              <a:t>paid</a:t>
            </a:r>
            <a:r>
              <a:rPr lang="fi-FI" dirty="0"/>
              <a:t> </a:t>
            </a:r>
            <a:r>
              <a:rPr lang="fi-FI" dirty="0" err="1"/>
              <a:t>pilot</a:t>
            </a:r>
            <a:r>
              <a:rPr lang="fi-FI" dirty="0"/>
              <a:t> </a:t>
            </a:r>
            <a:r>
              <a:rPr lang="fi-FI" dirty="0" err="1"/>
              <a:t>deployments</a:t>
            </a:r>
            <a:endParaRPr lang="fi-FI" dirty="0"/>
          </a:p>
          <a:p>
            <a:r>
              <a:rPr lang="fi-FI" dirty="0"/>
              <a:t>25% </a:t>
            </a:r>
            <a:r>
              <a:rPr lang="fi-FI" dirty="0" err="1"/>
              <a:t>Scale</a:t>
            </a:r>
            <a:r>
              <a:rPr lang="fi-FI" dirty="0"/>
              <a:t> to ~50 </a:t>
            </a:r>
            <a:r>
              <a:rPr lang="fi-FI" dirty="0" err="1"/>
              <a:t>edge</a:t>
            </a:r>
            <a:r>
              <a:rPr lang="fi-FI" dirty="0"/>
              <a:t> </a:t>
            </a:r>
            <a:r>
              <a:rPr lang="fi-FI" dirty="0" err="1"/>
              <a:t>devices</a:t>
            </a:r>
            <a:endParaRPr lang="fi-FI" dirty="0"/>
          </a:p>
          <a:p>
            <a:r>
              <a:rPr lang="fi-FI" b="1" dirty="0"/>
              <a:t>12-Month Financial </a:t>
            </a:r>
            <a:r>
              <a:rPr lang="fi-FI" b="1" dirty="0" err="1"/>
              <a:t>Projection</a:t>
            </a:r>
            <a:r>
              <a:rPr lang="fi-FI" b="1" dirty="0"/>
              <a:t>:</a:t>
            </a:r>
            <a:endParaRPr lang="fi-FI" dirty="0"/>
          </a:p>
          <a:p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MetricAmountCash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Need€191,630Revenue (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pilots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)€140,000Edge Savings€333,000</a:t>
            </a:r>
            <a:r>
              <a:rPr lang="fi-FI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Month 12 </a:t>
            </a:r>
            <a:r>
              <a:rPr lang="fi-FI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Result</a:t>
            </a:r>
            <a:r>
              <a:rPr lang="fi-FI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+€281,370</a:t>
            </a:r>
            <a:endParaRPr lang="fi-FI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i-FI" b="1" dirty="0" err="1"/>
              <a:t>Milestones</a:t>
            </a:r>
            <a:r>
              <a:rPr lang="fi-FI" b="1" dirty="0"/>
              <a:t>:</a:t>
            </a:r>
            <a:endParaRPr lang="fi-FI" dirty="0"/>
          </a:p>
          <a:p>
            <a:r>
              <a:rPr lang="fi-FI" dirty="0" err="1"/>
              <a:t>Days</a:t>
            </a:r>
            <a:r>
              <a:rPr lang="fi-FI" dirty="0"/>
              <a:t> 1-30: Foundation (Google Cloud + Groq </a:t>
            </a:r>
            <a:r>
              <a:rPr lang="fi-FI" dirty="0" err="1"/>
              <a:t>setup</a:t>
            </a:r>
            <a:r>
              <a:rPr lang="fi-FI" dirty="0"/>
              <a:t>)</a:t>
            </a:r>
          </a:p>
          <a:p>
            <a:r>
              <a:rPr lang="fi-FI" dirty="0" err="1"/>
              <a:t>Days</a:t>
            </a:r>
            <a:r>
              <a:rPr lang="fi-FI" dirty="0"/>
              <a:t> 31-60: </a:t>
            </a:r>
            <a:r>
              <a:rPr lang="fi-FI" dirty="0" err="1"/>
              <a:t>Pilot</a:t>
            </a:r>
            <a:r>
              <a:rPr lang="fi-FI" dirty="0"/>
              <a:t> </a:t>
            </a:r>
            <a:r>
              <a:rPr lang="fi-FI" dirty="0" err="1"/>
              <a:t>validation</a:t>
            </a:r>
            <a:r>
              <a:rPr lang="fi-FI" dirty="0"/>
              <a:t> with EU </a:t>
            </a:r>
            <a:r>
              <a:rPr lang="fi-FI" dirty="0" err="1"/>
              <a:t>partner</a:t>
            </a:r>
            <a:endParaRPr lang="fi-FI" dirty="0"/>
          </a:p>
          <a:p>
            <a:r>
              <a:rPr lang="fi-FI" dirty="0" err="1"/>
              <a:t>Days</a:t>
            </a:r>
            <a:r>
              <a:rPr lang="fi-FI" dirty="0"/>
              <a:t> 61-90: Production </a:t>
            </a:r>
            <a:r>
              <a:rPr lang="fi-FI" dirty="0" err="1"/>
              <a:t>launch</a:t>
            </a:r>
            <a:endParaRPr lang="fi-FI" dirty="0"/>
          </a:p>
          <a:p>
            <a:r>
              <a:rPr lang="fi-FI" dirty="0" err="1"/>
              <a:t>Month</a:t>
            </a:r>
            <a:r>
              <a:rPr lang="fi-FI" dirty="0"/>
              <a:t> 12: </a:t>
            </a:r>
            <a:r>
              <a:rPr lang="fi-FI" dirty="0" err="1"/>
              <a:t>Profitability</a:t>
            </a:r>
            <a:r>
              <a:rPr lang="fi-FI" dirty="0"/>
              <a:t> + </a:t>
            </a:r>
            <a:r>
              <a:rPr lang="fi-FI" dirty="0" err="1"/>
              <a:t>Seed</a:t>
            </a:r>
            <a:r>
              <a:rPr lang="fi-FI" dirty="0"/>
              <a:t> </a:t>
            </a:r>
            <a:r>
              <a:rPr lang="fi-FI" dirty="0" err="1"/>
              <a:t>Ready</a:t>
            </a:r>
            <a:r>
              <a:rPr lang="fi-FI" dirty="0"/>
              <a:t> (€500k-1M)</a:t>
            </a:r>
          </a:p>
          <a:p>
            <a:r>
              <a:rPr lang="fi-FI" b="1" dirty="0" err="1"/>
              <a:t>Slide</a:t>
            </a:r>
            <a:r>
              <a:rPr lang="fi-FI" b="1" dirty="0"/>
              <a:t> 10: Team &amp; </a:t>
            </a:r>
            <a:r>
              <a:rPr lang="fi-FI" b="1" dirty="0" err="1"/>
              <a:t>Why</a:t>
            </a:r>
            <a:r>
              <a:rPr lang="fi-FI" b="1" dirty="0"/>
              <a:t> Us</a:t>
            </a:r>
          </a:p>
          <a:p>
            <a:r>
              <a:rPr lang="fi-FI" b="1" dirty="0"/>
              <a:t>Founder:</a:t>
            </a:r>
            <a:r>
              <a:rPr lang="fi-FI" dirty="0"/>
              <a:t> Risto Anton Päärni</a:t>
            </a:r>
          </a:p>
          <a:p>
            <a:r>
              <a:rPr lang="fi-FI" dirty="0" err="1"/>
              <a:t>Background</a:t>
            </a:r>
            <a:r>
              <a:rPr lang="fi-FI" dirty="0"/>
              <a:t> in </a:t>
            </a:r>
            <a:r>
              <a:rPr lang="fi-FI" dirty="0" err="1"/>
              <a:t>industrial</a:t>
            </a:r>
            <a:r>
              <a:rPr lang="fi-FI" dirty="0"/>
              <a:t> IT, AI, and sustainability</a:t>
            </a:r>
          </a:p>
          <a:p>
            <a:r>
              <a:rPr lang="fi-FI" dirty="0" err="1"/>
              <a:t>Email</a:t>
            </a:r>
            <a:r>
              <a:rPr lang="fi-FI" dirty="0"/>
              <a:t>: </a:t>
            </a:r>
            <a:r>
              <a:rPr lang="fi-FI" dirty="0">
                <a:hlinkClick r:id="rId7"/>
              </a:rPr>
              <a:t>risto@lifetime.fi</a:t>
            </a:r>
            <a:endParaRPr lang="fi-FI" dirty="0"/>
          </a:p>
          <a:p>
            <a:r>
              <a:rPr lang="fi-FI" dirty="0"/>
              <a:t>LinkedIn: linkedin.com/in/</a:t>
            </a:r>
            <a:r>
              <a:rPr lang="fi-FI" dirty="0" err="1"/>
              <a:t>ristopaarni</a:t>
            </a:r>
            <a:endParaRPr lang="fi-FI" dirty="0"/>
          </a:p>
          <a:p>
            <a:r>
              <a:rPr lang="fi-FI" b="1" dirty="0"/>
              <a:t>Company </a:t>
            </a:r>
            <a:r>
              <a:rPr lang="fi-FI" b="1" dirty="0" err="1"/>
              <a:t>Credentials</a:t>
            </a:r>
            <a:r>
              <a:rPr lang="fi-FI" b="1" dirty="0"/>
              <a:t>:</a:t>
            </a:r>
            <a:endParaRPr lang="fi-FI" dirty="0"/>
          </a:p>
          <a:p>
            <a:r>
              <a:rPr lang="fi-FI" dirty="0"/>
              <a:t>ISO 27001 </a:t>
            </a:r>
            <a:r>
              <a:rPr lang="fi-FI" dirty="0" err="1"/>
              <a:t>certified</a:t>
            </a:r>
            <a:endParaRPr lang="fi-FI" dirty="0"/>
          </a:p>
          <a:p>
            <a:r>
              <a:rPr lang="fi-FI" dirty="0"/>
              <a:t>EU data </a:t>
            </a:r>
            <a:r>
              <a:rPr lang="fi-FI" dirty="0" err="1"/>
              <a:t>residency</a:t>
            </a:r>
            <a:endParaRPr lang="fi-FI" dirty="0"/>
          </a:p>
          <a:p>
            <a:r>
              <a:rPr lang="fi-FI" dirty="0"/>
              <a:t>GDPR </a:t>
            </a:r>
            <a:r>
              <a:rPr lang="fi-FI" dirty="0" err="1"/>
              <a:t>compliant</a:t>
            </a:r>
            <a:endParaRPr lang="fi-FI" dirty="0"/>
          </a:p>
          <a:p>
            <a:r>
              <a:rPr lang="fi-FI" b="1" dirty="0"/>
              <a:t>Vision:</a:t>
            </a:r>
            <a:r>
              <a:rPr lang="fi-FI" dirty="0"/>
              <a:t> DWS IQ as the "</a:t>
            </a:r>
            <a:r>
              <a:rPr lang="fi-FI" dirty="0" err="1"/>
              <a:t>brain</a:t>
            </a:r>
            <a:r>
              <a:rPr lang="fi-FI" dirty="0"/>
              <a:t>" for </a:t>
            </a:r>
            <a:r>
              <a:rPr lang="fi-FI" dirty="0" err="1"/>
              <a:t>intelligent</a:t>
            </a:r>
            <a:r>
              <a:rPr lang="fi-FI" dirty="0"/>
              <a:t>, </a:t>
            </a:r>
            <a:r>
              <a:rPr lang="fi-FI" dirty="0" err="1"/>
              <a:t>low-carbon</a:t>
            </a:r>
            <a:r>
              <a:rPr lang="fi-FI" dirty="0"/>
              <a:t> industries in Europe</a:t>
            </a:r>
          </a:p>
          <a:p>
            <a:br>
              <a:rPr lang="fi-FI" dirty="0"/>
            </a:br>
            <a:endParaRPr lang="fi-FI" dirty="0"/>
          </a:p>
          <a:p>
            <a:r>
              <a:rPr lang="fi-FI" b="1" dirty="0"/>
              <a:t>Key Investment </a:t>
            </a:r>
            <a:r>
              <a:rPr lang="fi-FI" b="1" dirty="0" err="1"/>
              <a:t>Highlights</a:t>
            </a:r>
            <a:endParaRPr lang="fi-FI" b="1" dirty="0"/>
          </a:p>
          <a:p>
            <a:r>
              <a:rPr lang="fi-FI" b="1" dirty="0" err="1"/>
              <a:t>Regulatory</a:t>
            </a:r>
            <a:r>
              <a:rPr lang="fi-FI" b="1" dirty="0"/>
              <a:t> </a:t>
            </a:r>
            <a:r>
              <a:rPr lang="fi-FI" b="1" dirty="0" err="1"/>
              <a:t>Tailwind</a:t>
            </a:r>
            <a:r>
              <a:rPr lang="fi-FI" b="1" dirty="0"/>
              <a:t>:</a:t>
            </a:r>
            <a:r>
              <a:rPr lang="fi-FI" dirty="0"/>
              <a:t> 2028 </a:t>
            </a:r>
            <a:r>
              <a:rPr lang="fi-FI" dirty="0" err="1"/>
              <a:t>mandate</a:t>
            </a:r>
            <a:r>
              <a:rPr lang="fi-FI" dirty="0"/>
              <a:t> </a:t>
            </a:r>
            <a:r>
              <a:rPr lang="fi-FI" dirty="0" err="1"/>
              <a:t>creates</a:t>
            </a:r>
            <a:r>
              <a:rPr lang="fi-FI" dirty="0"/>
              <a:t> </a:t>
            </a:r>
            <a:r>
              <a:rPr lang="fi-FI" dirty="0" err="1"/>
              <a:t>urgent</a:t>
            </a:r>
            <a:r>
              <a:rPr lang="fi-FI" dirty="0"/>
              <a:t> </a:t>
            </a:r>
            <a:r>
              <a:rPr lang="fi-FI" dirty="0" err="1"/>
              <a:t>demand</a:t>
            </a:r>
            <a:endParaRPr lang="fi-FI" dirty="0"/>
          </a:p>
          <a:p>
            <a:r>
              <a:rPr lang="fi-FI" b="1" dirty="0"/>
              <a:t>Edge </a:t>
            </a:r>
            <a:r>
              <a:rPr lang="fi-FI" b="1" dirty="0" err="1"/>
              <a:t>Moat</a:t>
            </a:r>
            <a:r>
              <a:rPr lang="fi-FI" b="1" dirty="0"/>
              <a:t>:</a:t>
            </a:r>
            <a:r>
              <a:rPr lang="fi-FI" dirty="0"/>
              <a:t> 25× faster, €333k/</a:t>
            </a:r>
            <a:r>
              <a:rPr lang="fi-FI" dirty="0" err="1"/>
              <a:t>yr</a:t>
            </a:r>
            <a:r>
              <a:rPr lang="fi-FI" dirty="0"/>
              <a:t> </a:t>
            </a:r>
            <a:r>
              <a:rPr lang="fi-FI" dirty="0" err="1"/>
              <a:t>cost</a:t>
            </a:r>
            <a:r>
              <a:rPr lang="fi-FI" dirty="0"/>
              <a:t> </a:t>
            </a:r>
            <a:r>
              <a:rPr lang="fi-FI" dirty="0" err="1"/>
              <a:t>advantage</a:t>
            </a:r>
            <a:r>
              <a:rPr lang="fi-FI" dirty="0"/>
              <a:t> vs. cloud-</a:t>
            </a:r>
            <a:r>
              <a:rPr lang="fi-FI" dirty="0" err="1"/>
              <a:t>only</a:t>
            </a:r>
            <a:r>
              <a:rPr lang="fi-FI" dirty="0"/>
              <a:t> </a:t>
            </a:r>
            <a:r>
              <a:rPr lang="fi-FI" dirty="0" err="1"/>
              <a:t>solutions</a:t>
            </a:r>
            <a:endParaRPr lang="fi-FI" dirty="0"/>
          </a:p>
          <a:p>
            <a:r>
              <a:rPr lang="fi-FI" b="1" dirty="0"/>
              <a:t>Capital </a:t>
            </a:r>
            <a:r>
              <a:rPr lang="fi-FI" b="1" dirty="0" err="1"/>
              <a:t>Efficient</a:t>
            </a:r>
            <a:r>
              <a:rPr lang="fi-FI" b="1" dirty="0"/>
              <a:t>:</a:t>
            </a:r>
            <a:r>
              <a:rPr lang="fi-FI" dirty="0"/>
              <a:t> €135k </a:t>
            </a:r>
            <a:r>
              <a:rPr lang="fi-FI" dirty="0" err="1"/>
              <a:t>credits</a:t>
            </a:r>
            <a:r>
              <a:rPr lang="fi-FI" dirty="0"/>
              <a:t> = 6 </a:t>
            </a:r>
            <a:r>
              <a:rPr lang="fi-FI" dirty="0" err="1"/>
              <a:t>years</a:t>
            </a:r>
            <a:r>
              <a:rPr lang="fi-FI" dirty="0"/>
              <a:t> </a:t>
            </a:r>
            <a:r>
              <a:rPr lang="fi-FI" dirty="0" err="1"/>
              <a:t>infrastructure</a:t>
            </a:r>
            <a:r>
              <a:rPr lang="fi-FI" dirty="0"/>
              <a:t> </a:t>
            </a:r>
            <a:r>
              <a:rPr lang="fi-FI" dirty="0" err="1"/>
              <a:t>runway</a:t>
            </a:r>
            <a:endParaRPr lang="fi-FI" dirty="0"/>
          </a:p>
          <a:p>
            <a:r>
              <a:rPr lang="fi-FI" b="1" dirty="0" err="1"/>
              <a:t>Path</a:t>
            </a:r>
            <a:r>
              <a:rPr lang="fi-FI" b="1" dirty="0"/>
              <a:t> to </a:t>
            </a:r>
            <a:r>
              <a:rPr lang="fi-FI" b="1" dirty="0" err="1"/>
              <a:t>Profit</a:t>
            </a:r>
            <a:r>
              <a:rPr lang="fi-FI" b="1" dirty="0"/>
              <a:t>:</a:t>
            </a:r>
            <a:r>
              <a:rPr lang="fi-FI" dirty="0"/>
              <a:t> +€281k in </a:t>
            </a:r>
            <a:r>
              <a:rPr lang="fi-FI" dirty="0" err="1"/>
              <a:t>Month</a:t>
            </a:r>
            <a:r>
              <a:rPr lang="fi-FI" dirty="0"/>
              <a:t> 12, </a:t>
            </a:r>
            <a:r>
              <a:rPr lang="fi-FI" dirty="0" err="1"/>
              <a:t>Seed-ready</a:t>
            </a:r>
            <a:endParaRPr lang="fi-FI" dirty="0"/>
          </a:p>
          <a:p>
            <a:br>
              <a:rPr lang="fi-FI" dirty="0"/>
            </a:br>
            <a:endParaRPr lang="fi-FI" dirty="0"/>
          </a:p>
          <a:p>
            <a:r>
              <a:rPr lang="fi-FI" b="1" dirty="0"/>
              <a:t>Contact Information</a:t>
            </a:r>
          </a:p>
          <a:p>
            <a:r>
              <a:rPr lang="fi-FI" b="1" dirty="0"/>
              <a:t>Lifetime Oy (Startup)</a:t>
            </a:r>
          </a:p>
          <a:p>
            <a:r>
              <a:rPr lang="fi-FI" b="1" dirty="0"/>
              <a:t>Risto Anton Päärni</a:t>
            </a:r>
            <a:br>
              <a:rPr lang="fi-FI" dirty="0"/>
            </a:br>
            <a:r>
              <a:rPr lang="fi-FI" dirty="0"/>
              <a:t>Founder &amp; CEO, Lifetime Oy</a:t>
            </a:r>
          </a:p>
          <a:p>
            <a:r>
              <a:rPr lang="fi-FI" dirty="0"/>
              <a:t>📧 </a:t>
            </a:r>
            <a:r>
              <a:rPr lang="fi-FI" dirty="0" err="1"/>
              <a:t>Email</a:t>
            </a:r>
            <a:r>
              <a:rPr lang="fi-FI" dirty="0"/>
              <a:t>: </a:t>
            </a:r>
            <a:r>
              <a:rPr lang="fi-FI" dirty="0">
                <a:hlinkClick r:id="rId7"/>
              </a:rPr>
              <a:t>risto@lifetime.fi</a:t>
            </a:r>
            <a:endParaRPr lang="fi-FI" dirty="0"/>
          </a:p>
          <a:p>
            <a:r>
              <a:rPr lang="fi-FI" dirty="0"/>
              <a:t>🔗 LinkedIn: </a:t>
            </a:r>
            <a:r>
              <a:rPr lang="fi-FI" dirty="0">
                <a:hlinkClick r:id="rId8"/>
              </a:rPr>
              <a:t>linkedin.com/in/</a:t>
            </a:r>
            <a:r>
              <a:rPr lang="fi-FI" dirty="0" err="1">
                <a:hlinkClick r:id="rId8"/>
              </a:rPr>
              <a:t>ristopaarni</a:t>
            </a:r>
            <a:endParaRPr lang="fi-FI" dirty="0"/>
          </a:p>
          <a:p>
            <a:r>
              <a:rPr lang="fi-FI" dirty="0"/>
              <a:t>📊 </a:t>
            </a:r>
            <a:r>
              <a:rPr lang="fi-FI" dirty="0" err="1"/>
              <a:t>Crunchbase</a:t>
            </a:r>
            <a:r>
              <a:rPr lang="fi-FI" dirty="0"/>
              <a:t>: </a:t>
            </a:r>
            <a:r>
              <a:rPr lang="fi-FI" dirty="0">
                <a:hlinkClick r:id="rId9"/>
              </a:rPr>
              <a:t>Lifetime Oy</a:t>
            </a:r>
            <a:endParaRPr lang="fi-FI" dirty="0"/>
          </a:p>
          <a:p>
            <a:r>
              <a:rPr lang="fi-FI" dirty="0"/>
              <a:t>💻 GitHub: </a:t>
            </a:r>
            <a:r>
              <a:rPr lang="fi-FI" dirty="0">
                <a:hlinkClick r:id="rId10"/>
              </a:rPr>
              <a:t>github.com/blogtheristo/dws6</a:t>
            </a:r>
            <a:endParaRPr lang="fi-FI" dirty="0"/>
          </a:p>
          <a:p>
            <a:r>
              <a:rPr lang="fi-FI" b="1" dirty="0"/>
              <a:t>Ecosummit (Event </a:t>
            </a:r>
            <a:r>
              <a:rPr lang="fi-FI" b="1" dirty="0" err="1"/>
              <a:t>Organizer</a:t>
            </a:r>
            <a:r>
              <a:rPr lang="fi-FI" b="1" dirty="0"/>
              <a:t>)</a:t>
            </a:r>
          </a:p>
          <a:p>
            <a:r>
              <a:rPr lang="fi-FI" b="1" dirty="0"/>
              <a:t>Michael Hess</a:t>
            </a:r>
            <a:br>
              <a:rPr lang="fi-FI" dirty="0"/>
            </a:br>
            <a:r>
              <a:rPr lang="fi-FI" dirty="0"/>
              <a:t>Founder, Ecosummit</a:t>
            </a:r>
          </a:p>
          <a:p>
            <a:r>
              <a:rPr lang="fi-FI" dirty="0"/>
              <a:t>📧 </a:t>
            </a:r>
            <a:r>
              <a:rPr lang="fi-FI" dirty="0" err="1"/>
              <a:t>Email</a:t>
            </a:r>
            <a:r>
              <a:rPr lang="fi-FI" dirty="0"/>
              <a:t>: </a:t>
            </a:r>
            <a:r>
              <a:rPr lang="fi-FI" dirty="0">
                <a:hlinkClick r:id="rId4"/>
              </a:rPr>
              <a:t>jan@ecosummit.net</a:t>
            </a:r>
            <a:endParaRPr lang="fi-FI" dirty="0"/>
          </a:p>
          <a:p>
            <a:r>
              <a:rPr lang="fi-FI" dirty="0"/>
              <a:t>📞 Phone: +49 176 2120 8417</a:t>
            </a:r>
          </a:p>
          <a:p>
            <a:r>
              <a:rPr lang="fi-FI" dirty="0"/>
              <a:t>🔗 LinkedIn: </a:t>
            </a:r>
            <a:r>
              <a:rPr lang="fi-FI" dirty="0">
                <a:hlinkClick r:id="rId5"/>
              </a:rPr>
              <a:t>linkedin.com/in/</a:t>
            </a:r>
            <a:r>
              <a:rPr lang="fi-FI" dirty="0" err="1">
                <a:hlinkClick r:id="rId5"/>
              </a:rPr>
              <a:t>janmichaelhess</a:t>
            </a:r>
            <a:endParaRPr lang="fi-FI" dirty="0"/>
          </a:p>
          <a:p>
            <a:r>
              <a:rPr lang="fi-FI" dirty="0"/>
              <a:t>📅 Schedule </a:t>
            </a:r>
            <a:r>
              <a:rPr lang="fi-FI" dirty="0" err="1"/>
              <a:t>Meeting</a:t>
            </a:r>
            <a:r>
              <a:rPr lang="fi-FI" dirty="0"/>
              <a:t>: </a:t>
            </a:r>
            <a:r>
              <a:rPr lang="fi-FI" dirty="0">
                <a:hlinkClick r:id="rId6"/>
              </a:rPr>
              <a:t>calendly.com/</a:t>
            </a:r>
            <a:r>
              <a:rPr lang="fi-FI" dirty="0" err="1">
                <a:hlinkClick r:id="rId6"/>
              </a:rPr>
              <a:t>ecosummit</a:t>
            </a:r>
            <a:endParaRPr lang="fi-FI" dirty="0"/>
          </a:p>
          <a:p>
            <a:r>
              <a:rPr lang="fi-FI" dirty="0"/>
              <a:t>🌐 </a:t>
            </a:r>
            <a:r>
              <a:rPr lang="fi-FI" dirty="0" err="1"/>
              <a:t>Website</a:t>
            </a:r>
            <a:r>
              <a:rPr lang="fi-FI" dirty="0"/>
              <a:t>: </a:t>
            </a:r>
            <a:r>
              <a:rPr lang="fi-FI" dirty="0">
                <a:hlinkClick r:id="rId3"/>
              </a:rPr>
              <a:t>ecosummit.net</a:t>
            </a:r>
            <a:endParaRPr lang="fi-FI" dirty="0"/>
          </a:p>
          <a:p>
            <a:br>
              <a:rPr lang="fi-FI" dirty="0"/>
            </a:br>
            <a:endParaRPr lang="fi-FI" dirty="0"/>
          </a:p>
          <a:p>
            <a:r>
              <a:rPr lang="fi-FI" b="1" dirty="0"/>
              <a:t>ROI &amp; </a:t>
            </a:r>
            <a:r>
              <a:rPr lang="fi-FI" b="1" dirty="0" err="1"/>
              <a:t>Runway</a:t>
            </a:r>
            <a:r>
              <a:rPr lang="fi-FI" b="1" dirty="0"/>
              <a:t> </a:t>
            </a:r>
            <a:r>
              <a:rPr lang="fi-FI" b="1" dirty="0" err="1"/>
              <a:t>Calculus</a:t>
            </a:r>
            <a:endParaRPr lang="fi-FI" b="1" dirty="0"/>
          </a:p>
          <a:p>
            <a:r>
              <a:rPr lang="fi-FI" b="1" dirty="0"/>
              <a:t>Hardware ROI Analysis</a:t>
            </a:r>
          </a:p>
          <a:p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MetricValueCalculationNVIDIA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Jetson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investment~€54,20050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devices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@ ~€1,084/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unitAnnual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ROI515%Edge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savings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/ hardware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costPayback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period1.95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monthsHardware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cost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/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monthly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savingsMonthly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cloud savings€27,750Edge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inference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vs. cloud compute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Annual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cloud savings€333,00012 ×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monthly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savings</a:t>
            </a:r>
            <a:endParaRPr lang="fi-FI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i-FI" b="1" dirty="0"/>
              <a:t>12-Month </a:t>
            </a:r>
            <a:r>
              <a:rPr lang="fi-FI" b="1" dirty="0" err="1"/>
              <a:t>Runway</a:t>
            </a:r>
            <a:r>
              <a:rPr lang="fi-FI" b="1" dirty="0"/>
              <a:t> </a:t>
            </a:r>
            <a:r>
              <a:rPr lang="fi-FI" b="1" dirty="0" err="1"/>
              <a:t>Projection</a:t>
            </a:r>
            <a:endParaRPr lang="fi-FI" b="1" dirty="0"/>
          </a:p>
          <a:p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SourceAmountStatusThis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round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(SAFE)€150,000RaisingAWS credits$25,000 (~€23k)✅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SecuredGoogle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Cloud credits$100,000 (~€92k)✅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SecuredGroq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credits$10,000 (~€9k)✅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SecuredPilot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revenue€140,000Projected</a:t>
            </a:r>
            <a:r>
              <a:rPr lang="fi-FI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Total </a:t>
            </a:r>
            <a:r>
              <a:rPr lang="fi-FI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runway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~€414,00012+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months</a:t>
            </a:r>
            <a:endParaRPr lang="fi-FI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i-FI" b="1" dirty="0" err="1"/>
              <a:t>Unit</a:t>
            </a:r>
            <a:r>
              <a:rPr lang="fi-FI" b="1" dirty="0"/>
              <a:t> </a:t>
            </a:r>
            <a:r>
              <a:rPr lang="fi-FI" b="1" dirty="0" err="1"/>
              <a:t>Economics</a:t>
            </a:r>
            <a:r>
              <a:rPr lang="fi-FI" b="1" dirty="0"/>
              <a:t> Target</a:t>
            </a:r>
          </a:p>
          <a:p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MetricTargetGross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margin70-80%LTV:CAC ratio5:1+Customer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annual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savings€50-120kDWS IQ </a:t>
            </a:r>
            <a:r>
              <a:rPr lang="fi-FI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annual</a:t>
            </a:r>
            <a:r>
              <a:rPr lang="fi-FI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cost€15-30k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Kuva 11" descr="Kuva, joka sisältää kohteen teksti, pilvi, kuvakaappaus, rakennus&#10;&#10;Tekoälyllä luotu sisältö voi olla virheellistä.">
            <a:extLst>
              <a:ext uri="{FF2B5EF4-FFF2-40B4-BE49-F238E27FC236}">
                <a16:creationId xmlns:a16="http://schemas.microsoft.com/office/drawing/2014/main" id="{694E8BCA-2264-C292-3AB0-83D423F6D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8" y="0"/>
            <a:ext cx="9111344" cy="5143500"/>
          </a:xfrm>
          <a:prstGeom prst="rect">
            <a:avLst/>
          </a:prstGeom>
        </p:spPr>
      </p:pic>
      <p:pic>
        <p:nvPicPr>
          <p:cNvPr id="2" name="Image 0" descr="/tmp/rasterized-gradient-5380f07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pic>
        <p:nvPicPr>
          <p:cNvPr id="3" name="Image 1" descr="/tmp/rasterized-gradient-53740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71500"/>
            <a:ext cx="457200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2107406"/>
            <a:ext cx="4090226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DWS IQ 6</a:t>
            </a:r>
            <a:endParaRPr lang="en-US" sz="3600" dirty="0"/>
          </a:p>
        </p:txBody>
      </p:sp>
      <p:sp>
        <p:nvSpPr>
          <p:cNvPr id="5" name="Text 1"/>
          <p:cNvSpPr/>
          <p:nvPr/>
        </p:nvSpPr>
        <p:spPr>
          <a:xfrm>
            <a:off x="571499" y="2762696"/>
            <a:ext cx="7553170" cy="1458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Climate AI for EU Construction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6" name="Text 2"/>
          <p:cNvSpPr/>
          <p:nvPr/>
        </p:nvSpPr>
        <p:spPr>
          <a:xfrm>
            <a:off x="571500" y="3363813"/>
            <a:ext cx="582930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Bef>
                <a:spcPts val="1200"/>
              </a:spcBef>
              <a:buNone/>
            </a:pPr>
            <a:r>
              <a:rPr lang="en-US" sz="1350" dirty="0">
                <a:solidFill>
                  <a:srgbClr val="8B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AI platform for 2028 embodied carbon compliance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571500" y="4377779"/>
            <a:ext cx="121929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Risto Anton Päärni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571500" y="4602510"/>
            <a:ext cx="121929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8B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CEO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7170887" y="4417814"/>
            <a:ext cx="140161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260"/>
              </a:lnSpc>
              <a:buNone/>
            </a:pPr>
            <a:r>
              <a:rPr lang="en-US" sz="900" dirty="0">
                <a:solidFill>
                  <a:srgbClr val="00C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€150K SAFE @ €3.8M cap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7170887" y="4615904"/>
            <a:ext cx="14016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B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Ecosummit 2026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FF525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647700"/>
            <a:ext cx="85496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600"/>
              </a:spcBef>
              <a:buNone/>
            </a:pPr>
            <a:r>
              <a:rPr lang="en-US" sz="1200" b="1" dirty="0">
                <a:solidFill>
                  <a:srgbClr val="FF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Compliance Crisis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022300"/>
            <a:ext cx="3771900" cy="1110407"/>
          </a:xfrm>
          <a:prstGeom prst="roundRect">
            <a:avLst>
              <a:gd name="adj" fmla="val 10294"/>
            </a:avLst>
          </a:prstGeom>
          <a:solidFill>
            <a:srgbClr val="1624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1022300"/>
            <a:ext cx="0" cy="1110407"/>
          </a:xfrm>
          <a:prstGeom prst="line">
            <a:avLst/>
          </a:prstGeom>
          <a:noFill/>
          <a:ln w="381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7" name="Text 5"/>
          <p:cNvSpPr/>
          <p:nvPr/>
        </p:nvSpPr>
        <p:spPr>
          <a:xfrm>
            <a:off x="609600" y="1212800"/>
            <a:ext cx="3419856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FF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09600" y="1768971"/>
            <a:ext cx="341985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Embodied carbon mandate for buildings &gt;1,000 m²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381000" y="2285107"/>
            <a:ext cx="3771900" cy="1110407"/>
          </a:xfrm>
          <a:prstGeom prst="roundRect">
            <a:avLst>
              <a:gd name="adj" fmla="val 10294"/>
            </a:avLst>
          </a:prstGeom>
          <a:solidFill>
            <a:srgbClr val="1624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0050" y="2285107"/>
            <a:ext cx="0" cy="1110407"/>
          </a:xfrm>
          <a:prstGeom prst="line">
            <a:avLst/>
          </a:prstGeom>
          <a:noFill/>
          <a:ln w="38100">
            <a:solidFill>
              <a:srgbClr val="FFA726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1" name="Text 9"/>
          <p:cNvSpPr/>
          <p:nvPr/>
        </p:nvSpPr>
        <p:spPr>
          <a:xfrm>
            <a:off x="609600" y="2475607"/>
            <a:ext cx="3419856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FFA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09600" y="3031778"/>
            <a:ext cx="341985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for 55: emissions reduction target by 2030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381000" y="3547914"/>
            <a:ext cx="3771900" cy="1110407"/>
          </a:xfrm>
          <a:prstGeom prst="roundRect">
            <a:avLst>
              <a:gd name="adj" fmla="val 10294"/>
            </a:avLst>
          </a:prstGeom>
          <a:solidFill>
            <a:srgbClr val="1624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00050" y="3547914"/>
            <a:ext cx="0" cy="1110407"/>
          </a:xfrm>
          <a:prstGeom prst="line">
            <a:avLst/>
          </a:prstGeom>
          <a:noFill/>
          <a:ln w="38100">
            <a:solidFill>
              <a:srgbClr val="FFEE5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5" name="Text 13"/>
          <p:cNvSpPr/>
          <p:nvPr/>
        </p:nvSpPr>
        <p:spPr>
          <a:xfrm>
            <a:off x="609600" y="3738414"/>
            <a:ext cx="3419856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FFE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609600" y="4294584"/>
            <a:ext cx="341985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Construction's share of EU CO₂ emissions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4457700" y="1421160"/>
            <a:ext cx="4305300" cy="1003697"/>
          </a:xfrm>
          <a:prstGeom prst="roundRect">
            <a:avLst>
              <a:gd name="adj" fmla="val 11388"/>
            </a:avLst>
          </a:prstGeom>
          <a:solidFill>
            <a:srgbClr val="1A3A5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648200" y="1611660"/>
            <a:ext cx="400278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4648200" y="2061121"/>
            <a:ext cx="40027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8B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EU emissions come from SMEs – but they lack in-house AI teams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4457700" y="2577257"/>
            <a:ext cx="4305300" cy="1682055"/>
          </a:xfrm>
          <a:prstGeom prst="roundRect">
            <a:avLst>
              <a:gd name="adj" fmla="val 6795"/>
            </a:avLst>
          </a:prstGeom>
          <a:solidFill>
            <a:srgbClr val="1A3A5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648200" y="2767757"/>
            <a:ext cx="40027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90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Reality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4648200" y="3882182"/>
            <a:ext cx="400278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900"/>
              </a:spcBef>
              <a:buNone/>
            </a:pPr>
            <a:r>
              <a:rPr lang="en-US" sz="1050" b="1" dirty="0">
                <a:solidFill>
                  <a:srgbClr val="FF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scalable for real-time site decisions.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81000" y="47815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8B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European Commission, Ramboll (2025)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0ad41fc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81000" y="647700"/>
            <a:ext cx="85496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600"/>
              </a:spcBef>
              <a:buNone/>
            </a:pPr>
            <a:r>
              <a:rPr lang="en-US" sz="1200" b="1" dirty="0">
                <a:solidFill>
                  <a:srgbClr val="00C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DWS IQ 6 Agents at the Site</a:t>
            </a:r>
            <a:endParaRPr lang="en-US" sz="1200" dirty="0"/>
          </a:p>
        </p:txBody>
      </p:sp>
      <p:pic>
        <p:nvPicPr>
          <p:cNvPr id="5" name="Image 1" descr="/tmp/rasterized-gradient-101b36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739205"/>
            <a:ext cx="4191000" cy="267831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7700" y="2051596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00C85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1333500" y="2005905"/>
            <a:ext cx="1302788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00C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&lt;100ms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1333500" y="2470696"/>
            <a:ext cx="13027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8B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inference decisions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647700" y="2821186"/>
            <a:ext cx="3657600" cy="9525"/>
          </a:xfrm>
          <a:prstGeom prst="rect">
            <a:avLst/>
          </a:prstGeom>
          <a:solidFill>
            <a:srgbClr val="2D4A6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647700" y="3021211"/>
            <a:ext cx="37307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90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AI on NVIDIA Jetson</a:t>
            </a:r>
            <a:endParaRPr lang="en-US" sz="1125" dirty="0"/>
          </a:p>
        </p:txBody>
      </p:sp>
      <p:sp>
        <p:nvSpPr>
          <p:cNvPr id="11" name="Text 7"/>
          <p:cNvSpPr/>
          <p:nvPr/>
        </p:nvSpPr>
        <p:spPr>
          <a:xfrm>
            <a:off x="647700" y="3335536"/>
            <a:ext cx="3730752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8B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 running directly at the construction site. No cloud latency. No internet dependency. Real decisions in real-time.</a:t>
            </a:r>
            <a:endParaRPr lang="en-US" sz="975" dirty="0"/>
          </a:p>
        </p:txBody>
      </p:sp>
      <p:sp>
        <p:nvSpPr>
          <p:cNvPr id="12" name="Text 8"/>
          <p:cNvSpPr/>
          <p:nvPr/>
        </p:nvSpPr>
        <p:spPr>
          <a:xfrm>
            <a:off x="4800600" y="1253579"/>
            <a:ext cx="3962400" cy="906661"/>
          </a:xfrm>
          <a:prstGeom prst="roundRect">
            <a:avLst>
              <a:gd name="adj" fmla="val 12607"/>
            </a:avLst>
          </a:prstGeom>
          <a:solidFill>
            <a:srgbClr val="1624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4972050" y="1425029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1A3A5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5505450" y="1425029"/>
            <a:ext cx="314782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Embodied Carbon Tracking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505450" y="1668810"/>
            <a:ext cx="314782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8B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monitoring across supply chains and material deliveries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4800600" y="2274540"/>
            <a:ext cx="3962400" cy="906661"/>
          </a:xfrm>
          <a:prstGeom prst="roundRect">
            <a:avLst>
              <a:gd name="adj" fmla="val 12607"/>
            </a:avLst>
          </a:prstGeom>
          <a:solidFill>
            <a:srgbClr val="1624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4972050" y="244599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1A3A5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5505450" y="2445990"/>
            <a:ext cx="314782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&amp; Supplier Decisions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5505450" y="2689771"/>
            <a:ext cx="314782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8B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low-carbon material selection and supplier scoring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4800600" y="3295501"/>
            <a:ext cx="3962400" cy="746671"/>
          </a:xfrm>
          <a:prstGeom prst="roundRect">
            <a:avLst>
              <a:gd name="adj" fmla="val 15308"/>
            </a:avLst>
          </a:prstGeom>
          <a:solidFill>
            <a:srgbClr val="1624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4972050" y="3466951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1A3A5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5505450" y="3466951"/>
            <a:ext cx="311093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Automation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5505450" y="3710732"/>
            <a:ext cx="311093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8B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roadmap for 2028 mandate and Fit for 55 targets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4800600" y="4156472"/>
            <a:ext cx="3962400" cy="746671"/>
          </a:xfrm>
          <a:prstGeom prst="roundRect">
            <a:avLst>
              <a:gd name="adj" fmla="val 15308"/>
            </a:avLst>
          </a:prstGeom>
          <a:solidFill>
            <a:srgbClr val="1624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4972050" y="4327922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1A3A5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5505450" y="4327922"/>
            <a:ext cx="303305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Rough Environments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5505450" y="4571702"/>
            <a:ext cx="30330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8B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Rugged hardware designed for construction site conditions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0E5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647700"/>
            <a:ext cx="85496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600"/>
              </a:spcBef>
              <a:buNone/>
            </a:pPr>
            <a:r>
              <a:rPr lang="en-US" sz="12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 &amp; Regulatory Tailwinds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203871"/>
            <a:ext cx="8382000" cy="1104900"/>
          </a:xfrm>
          <a:prstGeom prst="roundRect">
            <a:avLst>
              <a:gd name="adj" fmla="val 13793"/>
            </a:avLst>
          </a:prstGeom>
          <a:solidFill>
            <a:srgbClr val="1624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/tmp/rasterized-gradient-afb464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756321"/>
            <a:ext cx="6858000" cy="285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0816" y="1494383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8BA3B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287762" y="1461046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00C853"/>
          </a:solidFill>
          <a:ln w="28575">
            <a:solidFill>
              <a:srgbClr val="0A162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748784" y="143247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F5252"/>
          </a:solidFill>
          <a:ln w="28575">
            <a:solidFill>
              <a:srgbClr val="0A162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8174831" y="1461046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00E5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1" descr="/tmp/rasterized-gradient-9ff7d87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2466975"/>
            <a:ext cx="2667000" cy="200397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1500" y="26574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FF525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571500" y="3209925"/>
            <a:ext cx="23317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Deadline</a:t>
            </a:r>
            <a:endParaRPr lang="en-US" sz="1125" dirty="0"/>
          </a:p>
        </p:txBody>
      </p:sp>
      <p:sp>
        <p:nvSpPr>
          <p:cNvPr id="14" name="Text 10"/>
          <p:cNvSpPr/>
          <p:nvPr/>
        </p:nvSpPr>
        <p:spPr>
          <a:xfrm>
            <a:off x="571500" y="3505200"/>
            <a:ext cx="23317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8B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 embodied carbon mandate is not aspirational – it's a compliance deadline with penalties.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71500" y="4133850"/>
            <a:ext cx="233172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900"/>
              </a:spcBef>
              <a:buNone/>
            </a:pPr>
            <a:r>
              <a:rPr lang="en-US" sz="825" b="1" dirty="0">
                <a:solidFill>
                  <a:srgbClr val="FF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~24 months to prepare</a:t>
            </a:r>
            <a:endParaRPr lang="en-US" sz="825" dirty="0"/>
          </a:p>
        </p:txBody>
      </p:sp>
      <p:pic>
        <p:nvPicPr>
          <p:cNvPr id="16" name="Image 2" descr="/tmp/rasterized-gradient-b1f0b38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8500" y="2466975"/>
            <a:ext cx="2667000" cy="200397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429000" y="26574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0C85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3429000" y="3209925"/>
            <a:ext cx="23317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5.0 Wave</a:t>
            </a:r>
            <a:endParaRPr lang="en-US" sz="1125" dirty="0"/>
          </a:p>
        </p:txBody>
      </p:sp>
      <p:sp>
        <p:nvSpPr>
          <p:cNvPr id="19" name="Text 14"/>
          <p:cNvSpPr/>
          <p:nvPr/>
        </p:nvSpPr>
        <p:spPr>
          <a:xfrm>
            <a:off x="3429000" y="3505200"/>
            <a:ext cx="23317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8B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Digital-green twin transition is driving massive investment in AI + sustainability convergence.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3429000" y="4133850"/>
            <a:ext cx="233172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900"/>
              </a:spcBef>
              <a:buNone/>
            </a:pPr>
            <a:r>
              <a:rPr lang="en-US" sz="825" b="1" dirty="0">
                <a:solidFill>
                  <a:srgbClr val="00C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€1T+ EU investment</a:t>
            </a:r>
            <a:endParaRPr lang="en-US" sz="825" dirty="0"/>
          </a:p>
        </p:txBody>
      </p:sp>
      <p:pic>
        <p:nvPicPr>
          <p:cNvPr id="21" name="Image 3" descr="/tmp/rasterized-gradient-7eb13ad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2466975"/>
            <a:ext cx="2667000" cy="200397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86500" y="26574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0E5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6286500" y="3209925"/>
            <a:ext cx="23317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Limits</a:t>
            </a:r>
            <a:endParaRPr lang="en-US" sz="1125" dirty="0"/>
          </a:p>
        </p:txBody>
      </p:sp>
      <p:sp>
        <p:nvSpPr>
          <p:cNvPr id="24" name="Text 18"/>
          <p:cNvSpPr/>
          <p:nvPr/>
        </p:nvSpPr>
        <p:spPr>
          <a:xfrm>
            <a:off x="6286500" y="3505200"/>
            <a:ext cx="23317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8B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Cloud-only AI is too slow and expensive for continuous site-level decisions. Edge is the answer.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6286500" y="4133850"/>
            <a:ext cx="233172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900"/>
              </a:spcBef>
              <a:buNone/>
            </a:pPr>
            <a:r>
              <a:rPr lang="en-US" sz="825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25× faster at edge</a:t>
            </a:r>
            <a:endParaRPr lang="en-US" sz="825" dirty="0"/>
          </a:p>
        </p:txBody>
      </p:sp>
      <p:sp>
        <p:nvSpPr>
          <p:cNvPr id="26" name="Text 20"/>
          <p:cNvSpPr/>
          <p:nvPr/>
        </p:nvSpPr>
        <p:spPr>
          <a:xfrm>
            <a:off x="381000" y="47815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8B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movers gain advantage before compliance becomes crisis.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164546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Architecture &amp; Moat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81000" y="647700"/>
            <a:ext cx="85496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600"/>
              </a:spcBef>
              <a:buNone/>
            </a:pPr>
            <a:r>
              <a:rPr lang="en-US" sz="1200" b="1" dirty="0">
                <a:solidFill>
                  <a:srgbClr val="00C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Edge-Cloud Stack</a:t>
            </a:r>
            <a:endParaRPr lang="en-US" sz="1200" dirty="0"/>
          </a:p>
        </p:txBody>
      </p:sp>
      <p:pic>
        <p:nvPicPr>
          <p:cNvPr id="5" name="Image 1" descr="/tmp/rasterized-gradient-59d51d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344067"/>
            <a:ext cx="4610100" cy="84192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71500" y="1734592"/>
            <a:ext cx="2066925" cy="298996"/>
          </a:xfrm>
          <a:prstGeom prst="roundRect">
            <a:avLst>
              <a:gd name="adj" fmla="val 19114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667417" y="1810792"/>
            <a:ext cx="187509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IoT Greengrass</a:t>
            </a:r>
            <a:endParaRPr lang="en-US" sz="825" dirty="0"/>
          </a:p>
        </p:txBody>
      </p:sp>
      <p:sp>
        <p:nvSpPr>
          <p:cNvPr id="8" name="Text 4"/>
          <p:cNvSpPr/>
          <p:nvPr/>
        </p:nvSpPr>
        <p:spPr>
          <a:xfrm>
            <a:off x="2733675" y="1734592"/>
            <a:ext cx="2066925" cy="298996"/>
          </a:xfrm>
          <a:prstGeom prst="roundRect">
            <a:avLst>
              <a:gd name="adj" fmla="val 19114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2829592" y="1810792"/>
            <a:ext cx="187509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C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Jetson Orin</a:t>
            </a:r>
            <a:endParaRPr lang="en-US" sz="825" dirty="0"/>
          </a:p>
        </p:txBody>
      </p:sp>
      <p:sp>
        <p:nvSpPr>
          <p:cNvPr id="10" name="Text 6"/>
          <p:cNvSpPr/>
          <p:nvPr/>
        </p:nvSpPr>
        <p:spPr>
          <a:xfrm>
            <a:off x="2676525" y="2281238"/>
            <a:ext cx="19050" cy="114300"/>
          </a:xfrm>
          <a:prstGeom prst="rect">
            <a:avLst/>
          </a:prstGeom>
          <a:solidFill>
            <a:srgbClr val="2D4A6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2" descr="/tmp/rasterized-gradient-fa34f6c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2490788"/>
            <a:ext cx="4610100" cy="84192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71500" y="2881313"/>
            <a:ext cx="1346150" cy="298996"/>
          </a:xfrm>
          <a:prstGeom prst="roundRect">
            <a:avLst>
              <a:gd name="adj" fmla="val 19114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674624" y="2957513"/>
            <a:ext cx="113990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Run</a:t>
            </a:r>
            <a:endParaRPr lang="en-US" sz="825" dirty="0"/>
          </a:p>
        </p:txBody>
      </p:sp>
      <p:sp>
        <p:nvSpPr>
          <p:cNvPr id="14" name="Text 9"/>
          <p:cNvSpPr/>
          <p:nvPr/>
        </p:nvSpPr>
        <p:spPr>
          <a:xfrm>
            <a:off x="2012900" y="2881313"/>
            <a:ext cx="1346150" cy="298996"/>
          </a:xfrm>
          <a:prstGeom prst="roundRect">
            <a:avLst>
              <a:gd name="adj" fmla="val 19114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2116025" y="2957513"/>
            <a:ext cx="113990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API</a:t>
            </a:r>
            <a:endParaRPr lang="en-US" sz="825" dirty="0"/>
          </a:p>
        </p:txBody>
      </p:sp>
      <p:sp>
        <p:nvSpPr>
          <p:cNvPr id="16" name="Text 11"/>
          <p:cNvSpPr/>
          <p:nvPr/>
        </p:nvSpPr>
        <p:spPr>
          <a:xfrm>
            <a:off x="3454301" y="2881313"/>
            <a:ext cx="1346150" cy="298996"/>
          </a:xfrm>
          <a:prstGeom prst="roundRect">
            <a:avLst>
              <a:gd name="adj" fmla="val 19114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3557425" y="2957513"/>
            <a:ext cx="113990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LlamaStack</a:t>
            </a:r>
            <a:endParaRPr lang="en-US" sz="825" dirty="0"/>
          </a:p>
        </p:txBody>
      </p:sp>
      <p:sp>
        <p:nvSpPr>
          <p:cNvPr id="18" name="Text 13"/>
          <p:cNvSpPr/>
          <p:nvPr/>
        </p:nvSpPr>
        <p:spPr>
          <a:xfrm>
            <a:off x="2676525" y="3427958"/>
            <a:ext cx="19050" cy="114300"/>
          </a:xfrm>
          <a:prstGeom prst="rect">
            <a:avLst/>
          </a:prstGeom>
          <a:solidFill>
            <a:srgbClr val="2D4A6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381000" y="3637508"/>
            <a:ext cx="4610100" cy="660946"/>
          </a:xfrm>
          <a:prstGeom prst="roundRect">
            <a:avLst>
              <a:gd name="adj" fmla="val 14411"/>
            </a:avLst>
          </a:prstGeom>
          <a:solidFill>
            <a:srgbClr val="162436"/>
          </a:solidFill>
          <a:ln w="9525">
            <a:solidFill>
              <a:srgbClr val="2D4A6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561975" y="4008983"/>
            <a:ext cx="20888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Chromebook PWA</a:t>
            </a:r>
            <a:endParaRPr lang="en-US" sz="825" dirty="0"/>
          </a:p>
        </p:txBody>
      </p:sp>
      <p:sp>
        <p:nvSpPr>
          <p:cNvPr id="21" name="Text 16"/>
          <p:cNvSpPr/>
          <p:nvPr/>
        </p:nvSpPr>
        <p:spPr>
          <a:xfrm>
            <a:off x="2762250" y="4008983"/>
            <a:ext cx="20888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+ AWS S3</a:t>
            </a:r>
            <a:endParaRPr lang="en-US" sz="825" dirty="0"/>
          </a:p>
        </p:txBody>
      </p:sp>
      <p:pic>
        <p:nvPicPr>
          <p:cNvPr id="22" name="Image 3" descr="/tmp/rasterized-gradient-4cdeea9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9700" y="1184077"/>
            <a:ext cx="3543300" cy="113332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59146" y="1355527"/>
            <a:ext cx="3264408" cy="56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41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515%</a:t>
            </a:r>
            <a:endParaRPr lang="en-US" sz="3150" dirty="0"/>
          </a:p>
        </p:txBody>
      </p:sp>
      <p:sp>
        <p:nvSpPr>
          <p:cNvPr id="24" name="Text 18"/>
          <p:cNvSpPr/>
          <p:nvPr/>
        </p:nvSpPr>
        <p:spPr>
          <a:xfrm>
            <a:off x="5359146" y="1972717"/>
            <a:ext cx="326440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ROI annually</a:t>
            </a:r>
            <a:endParaRPr lang="en-US" sz="975" dirty="0"/>
          </a:p>
        </p:txBody>
      </p:sp>
      <p:sp>
        <p:nvSpPr>
          <p:cNvPr id="25" name="Text 19"/>
          <p:cNvSpPr/>
          <p:nvPr/>
        </p:nvSpPr>
        <p:spPr>
          <a:xfrm>
            <a:off x="5219700" y="2431703"/>
            <a:ext cx="1714500" cy="758130"/>
          </a:xfrm>
          <a:prstGeom prst="roundRect">
            <a:avLst>
              <a:gd name="adj" fmla="val 12564"/>
            </a:avLst>
          </a:prstGeom>
          <a:solidFill>
            <a:srgbClr val="1624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5338572" y="2565053"/>
            <a:ext cx="147675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1.95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5338572" y="2923133"/>
            <a:ext cx="14767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B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payback</a:t>
            </a:r>
            <a:endParaRPr lang="en-US" sz="750" dirty="0"/>
          </a:p>
        </p:txBody>
      </p:sp>
      <p:sp>
        <p:nvSpPr>
          <p:cNvPr id="28" name="Text 22"/>
          <p:cNvSpPr/>
          <p:nvPr/>
        </p:nvSpPr>
        <p:spPr>
          <a:xfrm>
            <a:off x="7048500" y="2431703"/>
            <a:ext cx="1714500" cy="758130"/>
          </a:xfrm>
          <a:prstGeom prst="roundRect">
            <a:avLst>
              <a:gd name="adj" fmla="val 12564"/>
            </a:avLst>
          </a:prstGeom>
          <a:solidFill>
            <a:srgbClr val="1624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3"/>
          <p:cNvSpPr/>
          <p:nvPr/>
        </p:nvSpPr>
        <p:spPr>
          <a:xfrm>
            <a:off x="7167372" y="2565053"/>
            <a:ext cx="147675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0C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25×</a:t>
            </a:r>
            <a:endParaRPr lang="en-US" sz="1800" dirty="0"/>
          </a:p>
        </p:txBody>
      </p:sp>
      <p:sp>
        <p:nvSpPr>
          <p:cNvPr id="30" name="Text 24"/>
          <p:cNvSpPr/>
          <p:nvPr/>
        </p:nvSpPr>
        <p:spPr>
          <a:xfrm>
            <a:off x="7167372" y="2923133"/>
            <a:ext cx="14767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B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than cloud</a:t>
            </a:r>
            <a:endParaRPr lang="en-US" sz="750" dirty="0"/>
          </a:p>
        </p:txBody>
      </p:sp>
      <p:sp>
        <p:nvSpPr>
          <p:cNvPr id="31" name="Text 25"/>
          <p:cNvSpPr/>
          <p:nvPr/>
        </p:nvSpPr>
        <p:spPr>
          <a:xfrm>
            <a:off x="5219700" y="3304133"/>
            <a:ext cx="3543300" cy="1154311"/>
          </a:xfrm>
          <a:prstGeom prst="roundRect">
            <a:avLst>
              <a:gd name="adj" fmla="val 8252"/>
            </a:avLst>
          </a:prstGeom>
          <a:solidFill>
            <a:srgbClr val="1A3A5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6"/>
          <p:cNvSpPr/>
          <p:nvPr/>
        </p:nvSpPr>
        <p:spPr>
          <a:xfrm>
            <a:off x="5372100" y="3456533"/>
            <a:ext cx="330327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Startup Credits Runway</a:t>
            </a:r>
            <a:endParaRPr lang="en-US" sz="975" dirty="0"/>
          </a:p>
        </p:txBody>
      </p:sp>
      <p:sp>
        <p:nvSpPr>
          <p:cNvPr id="33" name="Text 27"/>
          <p:cNvSpPr/>
          <p:nvPr/>
        </p:nvSpPr>
        <p:spPr>
          <a:xfrm>
            <a:off x="5372100" y="4039344"/>
            <a:ext cx="33032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900"/>
              </a:spcBef>
              <a:buNone/>
            </a:pPr>
            <a:r>
              <a:rPr lang="en-US" sz="1500" b="1" dirty="0">
                <a:solidFill>
                  <a:srgbClr val="00C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€135k credits = 6 years runway</a:t>
            </a:r>
            <a:endParaRPr lang="en-US" sz="1500" dirty="0"/>
          </a:p>
        </p:txBody>
      </p:sp>
      <p:sp>
        <p:nvSpPr>
          <p:cNvPr id="34" name="Text 28"/>
          <p:cNvSpPr/>
          <p:nvPr/>
        </p:nvSpPr>
        <p:spPr>
          <a:xfrm>
            <a:off x="381000" y="47815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8B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$180/month operating cost (86% cheaper than AWS-only)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FFA7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&amp; Focus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647700"/>
            <a:ext cx="85496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600"/>
              </a:spcBef>
              <a:buNone/>
            </a:pPr>
            <a:r>
              <a:rPr lang="en-US" sz="1200" b="1" dirty="0">
                <a:solidFill>
                  <a:srgbClr val="FFA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3.5M Construction Companies in EU</a:t>
            </a:r>
            <a:endParaRPr lang="en-US" sz="1200" dirty="0"/>
          </a:p>
        </p:txBody>
      </p:sp>
      <p:pic>
        <p:nvPicPr>
          <p:cNvPr id="5" name="Image 0" descr="/tmp/rasterized-gradient-1791de0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01328"/>
            <a:ext cx="4023271" cy="12703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5077" y="1291828"/>
            <a:ext cx="371511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FFA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3.5M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535077" y="2007989"/>
            <a:ext cx="371511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companies in EU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381000" y="2505075"/>
            <a:ext cx="4023271" cy="1118146"/>
          </a:xfrm>
          <a:prstGeom prst="roundRect">
            <a:avLst>
              <a:gd name="adj" fmla="val 8519"/>
            </a:avLst>
          </a:prstGeom>
          <a:solidFill>
            <a:srgbClr val="1624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33400" y="2657475"/>
            <a:ext cx="37928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b="1" dirty="0">
                <a:solidFill>
                  <a:srgbClr val="8B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MARKETS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2842171" y="2956471"/>
            <a:ext cx="952500" cy="57150"/>
          </a:xfrm>
          <a:prstGeom prst="roundRect">
            <a:avLst>
              <a:gd name="adj" fmla="val 50000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842171" y="2956471"/>
            <a:ext cx="952500" cy="57150"/>
          </a:xfrm>
          <a:prstGeom prst="rect">
            <a:avLst/>
          </a:prstGeom>
          <a:solidFill>
            <a:srgbClr val="FFA7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2842171" y="3166021"/>
            <a:ext cx="952500" cy="57150"/>
          </a:xfrm>
          <a:prstGeom prst="roundRect">
            <a:avLst>
              <a:gd name="adj" fmla="val 50000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2842171" y="3166021"/>
            <a:ext cx="933450" cy="57150"/>
          </a:xfrm>
          <a:prstGeom prst="rect">
            <a:avLst/>
          </a:prstGeom>
          <a:solidFill>
            <a:srgbClr val="FFCC8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842171" y="3375571"/>
            <a:ext cx="952500" cy="57150"/>
          </a:xfrm>
          <a:prstGeom prst="roundRect">
            <a:avLst>
              <a:gd name="adj" fmla="val 50000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842171" y="3375571"/>
            <a:ext cx="762000" cy="57150"/>
          </a:xfrm>
          <a:prstGeom prst="rect">
            <a:avLst/>
          </a:prstGeom>
          <a:solidFill>
            <a:srgbClr val="FFE0B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381000" y="3756571"/>
            <a:ext cx="4023271" cy="784771"/>
          </a:xfrm>
          <a:prstGeom prst="roundRect">
            <a:avLst>
              <a:gd name="adj" fmla="val 12137"/>
            </a:avLst>
          </a:prstGeom>
          <a:solidFill>
            <a:srgbClr val="1624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395288" y="3756571"/>
            <a:ext cx="0" cy="784771"/>
          </a:xfrm>
          <a:prstGeom prst="line">
            <a:avLst/>
          </a:prstGeom>
          <a:noFill/>
          <a:ln w="28575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8" name="Text 15"/>
          <p:cNvSpPr/>
          <p:nvPr/>
        </p:nvSpPr>
        <p:spPr>
          <a:xfrm>
            <a:off x="542925" y="3889921"/>
            <a:ext cx="38025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EXPANSION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542925" y="4093666"/>
            <a:ext cx="380255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8B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Manufacturing, logistics, and real estate sectors with similar carbon compliance needs.</a:t>
            </a:r>
            <a:endParaRPr lang="en-US" sz="825" dirty="0"/>
          </a:p>
        </p:txBody>
      </p:sp>
      <p:pic>
        <p:nvPicPr>
          <p:cNvPr id="20" name="Image 1" descr="/tmp/rasterized-gradient-9ff3857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2871" y="1200150"/>
            <a:ext cx="4130129" cy="10287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804321" y="1924050"/>
            <a:ext cx="38629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750"/>
              </a:spcBef>
              <a:buNone/>
            </a:pPr>
            <a:r>
              <a:rPr lang="en-US" sz="750" dirty="0">
                <a:solidFill>
                  <a:srgbClr val="8B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credibility, case studies, and enterprise validation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4632871" y="2343150"/>
            <a:ext cx="4130129" cy="1028700"/>
          </a:xfrm>
          <a:prstGeom prst="roundRect">
            <a:avLst>
              <a:gd name="adj" fmla="val 9259"/>
            </a:avLst>
          </a:prstGeom>
          <a:solidFill>
            <a:srgbClr val="162436"/>
          </a:solidFill>
          <a:ln w="19050">
            <a:solidFill>
              <a:srgbClr val="FFA72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4804321" y="3067050"/>
            <a:ext cx="38629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750"/>
              </a:spcBef>
              <a:buNone/>
            </a:pPr>
            <a:r>
              <a:rPr lang="en-US" sz="750" dirty="0">
                <a:solidFill>
                  <a:srgbClr val="8B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repeatable revenue and geographic expansion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4632871" y="3486150"/>
            <a:ext cx="4130129" cy="956221"/>
          </a:xfrm>
          <a:prstGeom prst="roundRect">
            <a:avLst>
              <a:gd name="adj" fmla="val 9961"/>
            </a:avLst>
          </a:prstGeom>
          <a:solidFill>
            <a:srgbClr val="162436"/>
          </a:solidFill>
          <a:ln w="19050">
            <a:solidFill>
              <a:srgbClr val="00E5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4804321" y="3914775"/>
            <a:ext cx="386297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 &amp; construction SMEs responsible for 63% of EU emissions</a:t>
            </a:r>
            <a:endParaRPr lang="en-US" sz="825" dirty="0"/>
          </a:p>
        </p:txBody>
      </p:sp>
      <p:sp>
        <p:nvSpPr>
          <p:cNvPr id="26" name="Text 22"/>
          <p:cNvSpPr/>
          <p:nvPr/>
        </p:nvSpPr>
        <p:spPr>
          <a:xfrm>
            <a:off x="4804321" y="4137571"/>
            <a:ext cx="38629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8B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Self-serve platform for digital-green twin transition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381000" y="47815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8B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Statista, Deloitte (2024)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a6dfd1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 &amp; Validation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81000" y="647700"/>
            <a:ext cx="85496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600"/>
              </a:spcBef>
              <a:buNone/>
            </a:pPr>
            <a:r>
              <a:rPr lang="en-US" sz="1200" b="1" dirty="0">
                <a:solidFill>
                  <a:srgbClr val="00C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+ Strategic Program Wins</a:t>
            </a:r>
            <a:endParaRPr lang="en-US" sz="1200" dirty="0"/>
          </a:p>
        </p:txBody>
      </p:sp>
      <p:pic>
        <p:nvPicPr>
          <p:cNvPr id="5" name="Image 1" descr="/tmp/rasterized-gradient-0aa3da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773757"/>
            <a:ext cx="3771900" cy="162282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76453" y="1002357"/>
            <a:ext cx="338099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REVENUE</a:t>
            </a:r>
            <a:endParaRPr lang="en-US" sz="825" dirty="0"/>
          </a:p>
        </p:txBody>
      </p:sp>
      <p:sp>
        <p:nvSpPr>
          <p:cNvPr id="7" name="Text 3"/>
          <p:cNvSpPr/>
          <p:nvPr/>
        </p:nvSpPr>
        <p:spPr>
          <a:xfrm>
            <a:off x="576453" y="1225153"/>
            <a:ext cx="3380994" cy="693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6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~€140k</a:t>
            </a:r>
            <a:endParaRPr lang="en-US" sz="3900" dirty="0"/>
          </a:p>
        </p:txBody>
      </p:sp>
      <p:sp>
        <p:nvSpPr>
          <p:cNvPr id="8" name="Text 4"/>
          <p:cNvSpPr/>
          <p:nvPr/>
        </p:nvSpPr>
        <p:spPr>
          <a:xfrm>
            <a:off x="576453" y="1994743"/>
            <a:ext cx="338099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pilots &amp; early customers</a:t>
            </a:r>
            <a:endParaRPr lang="en-US" sz="975" dirty="0"/>
          </a:p>
        </p:txBody>
      </p:sp>
      <p:sp>
        <p:nvSpPr>
          <p:cNvPr id="9" name="Text 5"/>
          <p:cNvSpPr/>
          <p:nvPr/>
        </p:nvSpPr>
        <p:spPr>
          <a:xfrm>
            <a:off x="381000" y="2548979"/>
            <a:ext cx="3771900" cy="1358057"/>
          </a:xfrm>
          <a:prstGeom prst="roundRect">
            <a:avLst>
              <a:gd name="adj" fmla="val 8416"/>
            </a:avLst>
          </a:prstGeom>
          <a:solidFill>
            <a:srgbClr val="162436"/>
          </a:solidFill>
          <a:ln w="19050">
            <a:solidFill>
              <a:srgbClr val="00E5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57022" y="2758529"/>
            <a:ext cx="34198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CLOUD SAVINGS</a:t>
            </a:r>
            <a:endParaRPr lang="en-US" sz="825" dirty="0"/>
          </a:p>
        </p:txBody>
      </p:sp>
      <p:sp>
        <p:nvSpPr>
          <p:cNvPr id="11" name="Text 7"/>
          <p:cNvSpPr/>
          <p:nvPr/>
        </p:nvSpPr>
        <p:spPr>
          <a:xfrm>
            <a:off x="557022" y="2981325"/>
            <a:ext cx="3419856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€333k</a:t>
            </a:r>
            <a:r>
              <a:rPr lang="en-US" sz="1200" b="1" dirty="0">
                <a:solidFill>
                  <a:srgbClr val="8B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/year</a:t>
            </a:r>
            <a:endParaRPr lang="en-US" sz="2700" dirty="0"/>
          </a:p>
        </p:txBody>
      </p:sp>
      <p:sp>
        <p:nvSpPr>
          <p:cNvPr id="12" name="Text 8"/>
          <p:cNvSpPr/>
          <p:nvPr/>
        </p:nvSpPr>
        <p:spPr>
          <a:xfrm>
            <a:off x="557022" y="3537496"/>
            <a:ext cx="341985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8B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pure-cloud competitors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381000" y="4059436"/>
            <a:ext cx="3771900" cy="809476"/>
          </a:xfrm>
          <a:prstGeom prst="roundRect">
            <a:avLst>
              <a:gd name="adj" fmla="val 14120"/>
            </a:avLst>
          </a:prstGeom>
          <a:solidFill>
            <a:srgbClr val="1A3A5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552450" y="4230886"/>
            <a:ext cx="34975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2026 Plan</a:t>
            </a:r>
            <a:endParaRPr lang="en-US" sz="975" dirty="0"/>
          </a:p>
        </p:txBody>
      </p:sp>
      <p:sp>
        <p:nvSpPr>
          <p:cNvPr id="15" name="Text 11"/>
          <p:cNvSpPr/>
          <p:nvPr/>
        </p:nvSpPr>
        <p:spPr>
          <a:xfrm>
            <a:off x="552450" y="4499372"/>
            <a:ext cx="3497580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8B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paid pilots with EU construction or manufacturing partners</a:t>
            </a:r>
            <a:endParaRPr lang="en-US" sz="975" dirty="0"/>
          </a:p>
        </p:txBody>
      </p:sp>
      <p:sp>
        <p:nvSpPr>
          <p:cNvPr id="16" name="Text 12"/>
          <p:cNvSpPr/>
          <p:nvPr/>
        </p:nvSpPr>
        <p:spPr>
          <a:xfrm>
            <a:off x="4419600" y="969615"/>
            <a:ext cx="44302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8B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PROGRAM WINS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419600" y="1282005"/>
            <a:ext cx="4343400" cy="762000"/>
          </a:xfrm>
          <a:prstGeom prst="roundRect">
            <a:avLst>
              <a:gd name="adj" fmla="val 12500"/>
            </a:avLst>
          </a:prstGeom>
          <a:solidFill>
            <a:srgbClr val="1624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4572000" y="1434405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5181600" y="1477268"/>
            <a:ext cx="295305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for Startups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5181600" y="1701998"/>
            <a:ext cx="295305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B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computing infrastructure</a:t>
            </a:r>
            <a:endParaRPr lang="en-US" sz="825" dirty="0"/>
          </a:p>
        </p:txBody>
      </p:sp>
      <p:sp>
        <p:nvSpPr>
          <p:cNvPr id="21" name="Text 17"/>
          <p:cNvSpPr/>
          <p:nvPr/>
        </p:nvSpPr>
        <p:spPr>
          <a:xfrm>
            <a:off x="8229154" y="1543050"/>
            <a:ext cx="38907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$25k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4419600" y="2158305"/>
            <a:ext cx="4343400" cy="762000"/>
          </a:xfrm>
          <a:prstGeom prst="roundRect">
            <a:avLst>
              <a:gd name="adj" fmla="val 12500"/>
            </a:avLst>
          </a:prstGeom>
          <a:solidFill>
            <a:srgbClr val="1624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4572000" y="2310705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4285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5181600" y="2353568"/>
            <a:ext cx="28557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for Startups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5181600" y="2578298"/>
            <a:ext cx="28557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B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platform credits</a:t>
            </a:r>
            <a:endParaRPr lang="en-US" sz="825" dirty="0"/>
          </a:p>
        </p:txBody>
      </p:sp>
      <p:sp>
        <p:nvSpPr>
          <p:cNvPr id="26" name="Text 22"/>
          <p:cNvSpPr/>
          <p:nvPr/>
        </p:nvSpPr>
        <p:spPr>
          <a:xfrm>
            <a:off x="8133755" y="2419350"/>
            <a:ext cx="48638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$100k</a:t>
            </a:r>
            <a:endParaRPr lang="en-US" sz="1350" dirty="0"/>
          </a:p>
        </p:txBody>
      </p:sp>
      <p:sp>
        <p:nvSpPr>
          <p:cNvPr id="27" name="Text 23"/>
          <p:cNvSpPr/>
          <p:nvPr/>
        </p:nvSpPr>
        <p:spPr>
          <a:xfrm>
            <a:off x="4419600" y="3034605"/>
            <a:ext cx="4343400" cy="762000"/>
          </a:xfrm>
          <a:prstGeom prst="roundRect">
            <a:avLst>
              <a:gd name="adj" fmla="val 12500"/>
            </a:avLst>
          </a:prstGeom>
          <a:solidFill>
            <a:srgbClr val="1624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4572000" y="3187005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F55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5181600" y="3229868"/>
            <a:ext cx="295305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for Startups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5181600" y="3454598"/>
            <a:ext cx="295305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B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LPU inference credits</a:t>
            </a:r>
            <a:endParaRPr lang="en-US" sz="825" dirty="0"/>
          </a:p>
        </p:txBody>
      </p:sp>
      <p:sp>
        <p:nvSpPr>
          <p:cNvPr id="31" name="Text 27"/>
          <p:cNvSpPr/>
          <p:nvPr/>
        </p:nvSpPr>
        <p:spPr>
          <a:xfrm>
            <a:off x="8229154" y="3295650"/>
            <a:ext cx="38907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550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$10k</a:t>
            </a:r>
            <a:endParaRPr lang="en-US" sz="1350" dirty="0"/>
          </a:p>
        </p:txBody>
      </p:sp>
      <p:sp>
        <p:nvSpPr>
          <p:cNvPr id="32" name="Text 28"/>
          <p:cNvSpPr/>
          <p:nvPr/>
        </p:nvSpPr>
        <p:spPr>
          <a:xfrm>
            <a:off x="4419600" y="3910905"/>
            <a:ext cx="4343400" cy="762000"/>
          </a:xfrm>
          <a:prstGeom prst="roundRect">
            <a:avLst>
              <a:gd name="adj" fmla="val 12500"/>
            </a:avLst>
          </a:prstGeom>
          <a:solidFill>
            <a:srgbClr val="1624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4572000" y="4063305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2429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5181600" y="4106168"/>
            <a:ext cx="322812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Enterprise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5181600" y="4330898"/>
            <a:ext cx="322812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B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seats + CI/CD</a:t>
            </a:r>
            <a:endParaRPr lang="en-US" sz="825" dirty="0"/>
          </a:p>
        </p:txBody>
      </p:sp>
      <p:sp>
        <p:nvSpPr>
          <p:cNvPr id="36" name="Text 32"/>
          <p:cNvSpPr/>
          <p:nvPr/>
        </p:nvSpPr>
        <p:spPr>
          <a:xfrm>
            <a:off x="8498830" y="4198590"/>
            <a:ext cx="11400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8B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37" name="Text 33"/>
          <p:cNvSpPr/>
          <p:nvPr/>
        </p:nvSpPr>
        <p:spPr>
          <a:xfrm>
            <a:off x="381000" y="47815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8B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27001 • EU data residency • GDPR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FFA7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512006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 &amp; Unit Economics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647700"/>
            <a:ext cx="85496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600"/>
              </a:spcBef>
              <a:buNone/>
            </a:pPr>
            <a:r>
              <a:rPr lang="en-US" sz="1200" b="1" dirty="0">
                <a:solidFill>
                  <a:srgbClr val="FFA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+ Edge Hardware with 515% ROI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316534"/>
            <a:ext cx="38473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8B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MODEL</a:t>
            </a:r>
            <a:endParaRPr lang="en-US" sz="900" dirty="0"/>
          </a:p>
        </p:txBody>
      </p:sp>
      <p:pic>
        <p:nvPicPr>
          <p:cNvPr id="6" name="Image 0" descr="/tmp/rasterized-gradient-4b61f38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609874"/>
            <a:ext cx="3771900" cy="1807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1500" y="1800374"/>
            <a:ext cx="1619250" cy="668536"/>
          </a:xfrm>
          <a:prstGeom prst="roundRect">
            <a:avLst>
              <a:gd name="adj" fmla="val 11398"/>
            </a:avLst>
          </a:prstGeom>
          <a:solidFill>
            <a:srgbClr val="0A1628"/>
          </a:solidFill>
          <a:ln w="19050">
            <a:solidFill>
              <a:srgbClr val="00C85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10756" y="1952774"/>
            <a:ext cx="134073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00C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PLATFORM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710756" y="2156520"/>
            <a:ext cx="134073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subscription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343150" y="1800374"/>
            <a:ext cx="1619250" cy="668536"/>
          </a:xfrm>
          <a:prstGeom prst="roundRect">
            <a:avLst>
              <a:gd name="adj" fmla="val 11398"/>
            </a:avLst>
          </a:prstGeom>
          <a:solidFill>
            <a:srgbClr val="0A1628"/>
          </a:solidFill>
          <a:ln w="19050">
            <a:solidFill>
              <a:srgbClr val="00E5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482406" y="1952774"/>
            <a:ext cx="134073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HARDWARE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2482406" y="2156520"/>
            <a:ext cx="134073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Per-site pricing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71500" y="2621310"/>
            <a:ext cx="3390900" cy="9525"/>
          </a:xfrm>
          <a:prstGeom prst="rect">
            <a:avLst/>
          </a:prstGeom>
          <a:solidFill>
            <a:srgbClr val="2D4A6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71500" y="2816572"/>
            <a:ext cx="14321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8B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pilot economics:</a:t>
            </a:r>
            <a:endParaRPr lang="en-US" sz="975" dirty="0"/>
          </a:p>
        </p:txBody>
      </p:sp>
      <p:sp>
        <p:nvSpPr>
          <p:cNvPr id="15" name="Text 12"/>
          <p:cNvSpPr/>
          <p:nvPr/>
        </p:nvSpPr>
        <p:spPr>
          <a:xfrm>
            <a:off x="3237756" y="2783235"/>
            <a:ext cx="73913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00C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€50-100k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71500" y="3080296"/>
            <a:ext cx="34587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8B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savings per enterprise customer</a:t>
            </a:r>
            <a:endParaRPr lang="en-US" sz="825" dirty="0"/>
          </a:p>
        </p:txBody>
      </p:sp>
      <p:pic>
        <p:nvPicPr>
          <p:cNvPr id="17" name="Image 1" descr="/tmp/rasterized-gradient-0e5c254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3550741"/>
            <a:ext cx="3771900" cy="113719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71500" y="3741241"/>
            <a:ext cx="9940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ROI</a:t>
            </a:r>
            <a:endParaRPr lang="en-US" sz="825" dirty="0"/>
          </a:p>
        </p:txBody>
      </p:sp>
      <p:sp>
        <p:nvSpPr>
          <p:cNvPr id="19" name="Text 15"/>
          <p:cNvSpPr/>
          <p:nvPr/>
        </p:nvSpPr>
        <p:spPr>
          <a:xfrm>
            <a:off x="571500" y="3964037"/>
            <a:ext cx="99401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00"/>
              </a:lnSpc>
              <a:spcBef>
                <a:spcPts val="600"/>
              </a:spcBef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515%</a:t>
            </a:r>
            <a:endParaRPr lang="en-US" sz="3000" dirty="0"/>
          </a:p>
        </p:txBody>
      </p:sp>
      <p:sp>
        <p:nvSpPr>
          <p:cNvPr id="20" name="Text 16"/>
          <p:cNvSpPr/>
          <p:nvPr/>
        </p:nvSpPr>
        <p:spPr>
          <a:xfrm>
            <a:off x="3191080" y="3821311"/>
            <a:ext cx="77132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</a:t>
            </a:r>
            <a:endParaRPr lang="en-US" sz="825" dirty="0"/>
          </a:p>
        </p:txBody>
      </p:sp>
      <p:sp>
        <p:nvSpPr>
          <p:cNvPr id="21" name="Text 17"/>
          <p:cNvSpPr/>
          <p:nvPr/>
        </p:nvSpPr>
        <p:spPr>
          <a:xfrm>
            <a:off x="3191080" y="4044107"/>
            <a:ext cx="77132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940"/>
              </a:lnSpc>
              <a:spcBef>
                <a:spcPts val="600"/>
              </a:spcBef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1.95</a:t>
            </a: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</a:t>
            </a:r>
            <a:endParaRPr lang="en-US" sz="2100" dirty="0"/>
          </a:p>
        </p:txBody>
      </p:sp>
      <p:sp>
        <p:nvSpPr>
          <p:cNvPr id="22" name="Text 18"/>
          <p:cNvSpPr/>
          <p:nvPr/>
        </p:nvSpPr>
        <p:spPr>
          <a:xfrm>
            <a:off x="4419600" y="1425922"/>
            <a:ext cx="44302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8B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VALUE CALCULATION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4419600" y="1700213"/>
            <a:ext cx="4343400" cy="1866900"/>
          </a:xfrm>
          <a:prstGeom prst="roundRect">
            <a:avLst>
              <a:gd name="adj" fmla="val 6122"/>
            </a:avLst>
          </a:prstGeom>
          <a:solidFill>
            <a:srgbClr val="1624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0"/>
          <p:cNvSpPr/>
          <p:nvPr/>
        </p:nvSpPr>
        <p:spPr>
          <a:xfrm>
            <a:off x="4591050" y="3005137"/>
            <a:ext cx="4000500" cy="0"/>
          </a:xfrm>
          <a:prstGeom prst="line">
            <a:avLst/>
          </a:prstGeom>
          <a:noFill/>
          <a:ln w="1905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25" name="Text 21"/>
          <p:cNvSpPr/>
          <p:nvPr/>
        </p:nvSpPr>
        <p:spPr>
          <a:xfrm>
            <a:off x="4419600" y="3681413"/>
            <a:ext cx="4343400" cy="897136"/>
          </a:xfrm>
          <a:prstGeom prst="roundRect">
            <a:avLst>
              <a:gd name="adj" fmla="val 10617"/>
            </a:avLst>
          </a:prstGeom>
          <a:solidFill>
            <a:srgbClr val="1A3A5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2"/>
          <p:cNvSpPr/>
          <p:nvPr/>
        </p:nvSpPr>
        <p:spPr>
          <a:xfrm>
            <a:off x="4438650" y="3681413"/>
            <a:ext cx="0" cy="897136"/>
          </a:xfrm>
          <a:prstGeom prst="line">
            <a:avLst/>
          </a:prstGeom>
          <a:noFill/>
          <a:ln w="381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27" name="Text 23"/>
          <p:cNvSpPr/>
          <p:nvPr/>
        </p:nvSpPr>
        <p:spPr>
          <a:xfrm>
            <a:off x="4610100" y="3833812"/>
            <a:ext cx="408051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Edge Advantage</a:t>
            </a:r>
            <a:endParaRPr lang="en-US" sz="975" dirty="0"/>
          </a:p>
        </p:txBody>
      </p:sp>
      <p:sp>
        <p:nvSpPr>
          <p:cNvPr id="28" name="Text 24"/>
          <p:cNvSpPr/>
          <p:nvPr/>
        </p:nvSpPr>
        <p:spPr>
          <a:xfrm>
            <a:off x="4610100" y="4083248"/>
            <a:ext cx="40805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8B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€27,750/month cloud cost avoidance. €333k/year competitive moat. Target 70-80% gross margin, LTV:CAC 5:1+.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1392c7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&amp; Use of Funds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81000" y="647700"/>
            <a:ext cx="85496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600"/>
              </a:spcBef>
              <a:buNone/>
            </a:pPr>
            <a:r>
              <a:rPr lang="en-US" sz="1200" b="1" dirty="0">
                <a:solidFill>
                  <a:srgbClr val="00C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12-Month Runway to Profitability</a:t>
            </a:r>
            <a:endParaRPr lang="en-US" sz="1200" dirty="0"/>
          </a:p>
        </p:txBody>
      </p:sp>
      <p:pic>
        <p:nvPicPr>
          <p:cNvPr id="5" name="Image 1" descr="/tmp/rasterized-gradient-691dc31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365052"/>
            <a:ext cx="3771900" cy="180379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5315" y="1631752"/>
            <a:ext cx="33032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RAISING</a:t>
            </a:r>
            <a:endParaRPr lang="en-US" sz="825" dirty="0"/>
          </a:p>
        </p:txBody>
      </p:sp>
      <p:sp>
        <p:nvSpPr>
          <p:cNvPr id="7" name="Text 3"/>
          <p:cNvSpPr/>
          <p:nvPr/>
        </p:nvSpPr>
        <p:spPr>
          <a:xfrm>
            <a:off x="615315" y="1854547"/>
            <a:ext cx="3303270" cy="746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880"/>
              </a:lnSpc>
              <a:spcBef>
                <a:spcPts val="600"/>
              </a:spcBef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€150k</a:t>
            </a:r>
            <a:endParaRPr lang="en-US" sz="4200" dirty="0"/>
          </a:p>
        </p:txBody>
      </p:sp>
      <p:sp>
        <p:nvSpPr>
          <p:cNvPr id="8" name="Text 4"/>
          <p:cNvSpPr/>
          <p:nvPr/>
        </p:nvSpPr>
        <p:spPr>
          <a:xfrm>
            <a:off x="615315" y="2715518"/>
            <a:ext cx="330327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900"/>
              </a:spcBef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@ €3.8M cap, 20% discount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381000" y="3302198"/>
            <a:ext cx="3771900" cy="1489621"/>
          </a:xfrm>
          <a:prstGeom prst="roundRect">
            <a:avLst>
              <a:gd name="adj" fmla="val 7673"/>
            </a:avLst>
          </a:prstGeom>
          <a:solidFill>
            <a:srgbClr val="1624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71500" y="3492698"/>
            <a:ext cx="34587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1050"/>
              </a:spcAft>
              <a:buNone/>
            </a:pPr>
            <a:r>
              <a:rPr lang="en-US" sz="825" b="1" dirty="0">
                <a:solidFill>
                  <a:srgbClr val="8B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 (12 MONTHS)</a:t>
            </a:r>
            <a:endParaRPr lang="en-US" sz="825" dirty="0"/>
          </a:p>
        </p:txBody>
      </p:sp>
      <p:sp>
        <p:nvSpPr>
          <p:cNvPr id="11" name="Text 7"/>
          <p:cNvSpPr/>
          <p:nvPr/>
        </p:nvSpPr>
        <p:spPr>
          <a:xfrm>
            <a:off x="571500" y="3786932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00C85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571500" y="4025057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00E5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571500" y="4263182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FFA7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571500" y="4525119"/>
            <a:ext cx="3390900" cy="76200"/>
          </a:xfrm>
          <a:prstGeom prst="roundRect">
            <a:avLst>
              <a:gd name="adj" fmla="val 50000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571500" y="4525119"/>
            <a:ext cx="1356271" cy="76200"/>
          </a:xfrm>
          <a:prstGeom prst="rect">
            <a:avLst/>
          </a:prstGeom>
          <a:solidFill>
            <a:srgbClr val="00C85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1927771" y="4525119"/>
            <a:ext cx="1186755" cy="76200"/>
          </a:xfrm>
          <a:prstGeom prst="rect">
            <a:avLst/>
          </a:prstGeom>
          <a:solidFill>
            <a:srgbClr val="00E5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3114526" y="4525119"/>
            <a:ext cx="847725" cy="76200"/>
          </a:xfrm>
          <a:prstGeom prst="rect">
            <a:avLst/>
          </a:prstGeom>
          <a:solidFill>
            <a:srgbClr val="FFA7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4419600" y="1260277"/>
            <a:ext cx="44302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8B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12-MONTH FINANCIAL PROJECTION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4419600" y="1534567"/>
            <a:ext cx="4343400" cy="1704975"/>
          </a:xfrm>
          <a:prstGeom prst="roundRect">
            <a:avLst>
              <a:gd name="adj" fmla="val 6704"/>
            </a:avLst>
          </a:prstGeom>
          <a:solidFill>
            <a:srgbClr val="1624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0" name="Image 2" descr="/tmp/rasterized-gradient-a0de0dd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9600" y="3353842"/>
            <a:ext cx="4343400" cy="84370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610100" y="3544342"/>
            <a:ext cx="21527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C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MILESTONE: MONTH 12</a:t>
            </a:r>
            <a:endParaRPr lang="en-US" sz="825" dirty="0"/>
          </a:p>
        </p:txBody>
      </p:sp>
      <p:sp>
        <p:nvSpPr>
          <p:cNvPr id="22" name="Text 17"/>
          <p:cNvSpPr/>
          <p:nvPr/>
        </p:nvSpPr>
        <p:spPr>
          <a:xfrm>
            <a:off x="4610100" y="3767138"/>
            <a:ext cx="215274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Bef>
                <a:spcPts val="600"/>
              </a:spcBef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Profitability + Seed Ready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7784937" y="3563392"/>
            <a:ext cx="78756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55"/>
              </a:lnSpc>
              <a:buNone/>
            </a:pPr>
            <a:r>
              <a:rPr lang="en-US" sz="825" dirty="0">
                <a:solidFill>
                  <a:srgbClr val="8B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ROUND</a:t>
            </a:r>
            <a:endParaRPr lang="en-US" sz="825" dirty="0"/>
          </a:p>
        </p:txBody>
      </p:sp>
      <p:sp>
        <p:nvSpPr>
          <p:cNvPr id="24" name="Text 19"/>
          <p:cNvSpPr/>
          <p:nvPr/>
        </p:nvSpPr>
        <p:spPr>
          <a:xfrm>
            <a:off x="7784937" y="3748087"/>
            <a:ext cx="78756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890"/>
              </a:lnSpc>
              <a:spcBef>
                <a:spcPts val="300"/>
              </a:spcBef>
              <a:buNone/>
            </a:pPr>
            <a:r>
              <a:rPr lang="en-US" sz="1350" b="1" dirty="0">
                <a:solidFill>
                  <a:srgbClr val="00C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€500k-1M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4419600" y="4311848"/>
            <a:ext cx="4343400" cy="584746"/>
          </a:xfrm>
          <a:prstGeom prst="roundRect">
            <a:avLst>
              <a:gd name="adj" fmla="val 16289"/>
            </a:avLst>
          </a:prstGeom>
          <a:solidFill>
            <a:srgbClr val="1624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1"/>
          <p:cNvSpPr/>
          <p:nvPr/>
        </p:nvSpPr>
        <p:spPr>
          <a:xfrm>
            <a:off x="5834063" y="4445198"/>
            <a:ext cx="0" cy="318046"/>
          </a:xfrm>
          <a:prstGeom prst="line">
            <a:avLst/>
          </a:prstGeom>
          <a:noFill/>
          <a:ln w="9525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27" name="Text 22"/>
          <p:cNvSpPr/>
          <p:nvPr/>
        </p:nvSpPr>
        <p:spPr>
          <a:xfrm>
            <a:off x="4540187" y="4445198"/>
            <a:ext cx="13018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8B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1-30</a:t>
            </a:r>
            <a:endParaRPr lang="en-US" sz="750" dirty="0"/>
          </a:p>
        </p:txBody>
      </p:sp>
      <p:sp>
        <p:nvSpPr>
          <p:cNvPr id="28" name="Text 23"/>
          <p:cNvSpPr/>
          <p:nvPr/>
        </p:nvSpPr>
        <p:spPr>
          <a:xfrm>
            <a:off x="4540187" y="4616648"/>
            <a:ext cx="130187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825" dirty="0"/>
          </a:p>
        </p:txBody>
      </p:sp>
      <p:sp>
        <p:nvSpPr>
          <p:cNvPr id="29" name="Shape 24"/>
          <p:cNvSpPr/>
          <p:nvPr/>
        </p:nvSpPr>
        <p:spPr>
          <a:xfrm>
            <a:off x="7234238" y="4445198"/>
            <a:ext cx="0" cy="318046"/>
          </a:xfrm>
          <a:prstGeom prst="line">
            <a:avLst/>
          </a:prstGeom>
          <a:noFill/>
          <a:ln w="9525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0" name="Text 25"/>
          <p:cNvSpPr/>
          <p:nvPr/>
        </p:nvSpPr>
        <p:spPr>
          <a:xfrm>
            <a:off x="5940362" y="4445198"/>
            <a:ext cx="13018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8B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31-60</a:t>
            </a:r>
            <a:endParaRPr lang="en-US" sz="750" dirty="0"/>
          </a:p>
        </p:txBody>
      </p:sp>
      <p:sp>
        <p:nvSpPr>
          <p:cNvPr id="31" name="Text 26"/>
          <p:cNvSpPr/>
          <p:nvPr/>
        </p:nvSpPr>
        <p:spPr>
          <a:xfrm>
            <a:off x="5940362" y="4616648"/>
            <a:ext cx="130187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validation</a:t>
            </a:r>
            <a:endParaRPr lang="en-US" sz="825" dirty="0"/>
          </a:p>
        </p:txBody>
      </p:sp>
      <p:sp>
        <p:nvSpPr>
          <p:cNvPr id="32" name="Text 27"/>
          <p:cNvSpPr/>
          <p:nvPr/>
        </p:nvSpPr>
        <p:spPr>
          <a:xfrm>
            <a:off x="7340537" y="4445198"/>
            <a:ext cx="13018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8B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61-90</a:t>
            </a:r>
            <a:endParaRPr lang="en-US" sz="750" dirty="0"/>
          </a:p>
        </p:txBody>
      </p:sp>
      <p:sp>
        <p:nvSpPr>
          <p:cNvPr id="33" name="Text 28"/>
          <p:cNvSpPr/>
          <p:nvPr/>
        </p:nvSpPr>
        <p:spPr>
          <a:xfrm>
            <a:off x="7340537" y="4616648"/>
            <a:ext cx="130187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8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fa79d8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&amp; Why Us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81000" y="647700"/>
            <a:ext cx="85496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600"/>
              </a:spcBef>
              <a:buNone/>
            </a:pPr>
            <a:r>
              <a:rPr lang="en-US" sz="1200" b="1" dirty="0">
                <a:solidFill>
                  <a:srgbClr val="00C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EU-Based, Security-First</a:t>
            </a:r>
            <a:endParaRPr lang="en-US" sz="1200" dirty="0"/>
          </a:p>
        </p:txBody>
      </p:sp>
      <p:pic>
        <p:nvPicPr>
          <p:cNvPr id="5" name="Image 1" descr="/tmp/rasterized-gradient-200ac0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063079"/>
            <a:ext cx="3520380" cy="2525911"/>
          </a:xfrm>
          <a:prstGeom prst="rect">
            <a:avLst/>
          </a:prstGeom>
        </p:spPr>
      </p:pic>
      <p:pic>
        <p:nvPicPr>
          <p:cNvPr id="6" name="Image 2" descr="/tmp/rasterized-gradient-0095604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291679"/>
            <a:ext cx="762000" cy="7620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562100" y="1291679"/>
            <a:ext cx="21528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Risto Anton Päärni</a:t>
            </a:r>
            <a:endParaRPr lang="en-US" sz="1500" dirty="0"/>
          </a:p>
        </p:txBody>
      </p:sp>
      <p:sp>
        <p:nvSpPr>
          <p:cNvPr id="8" name="Text 3"/>
          <p:cNvSpPr/>
          <p:nvPr/>
        </p:nvSpPr>
        <p:spPr>
          <a:xfrm>
            <a:off x="1562100" y="1615529"/>
            <a:ext cx="215289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b="1" dirty="0">
                <a:solidFill>
                  <a:srgbClr val="00C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CEO</a:t>
            </a:r>
            <a:endParaRPr lang="en-US" sz="975" dirty="0"/>
          </a:p>
        </p:txBody>
      </p:sp>
      <p:sp>
        <p:nvSpPr>
          <p:cNvPr id="9" name="Text 4"/>
          <p:cNvSpPr/>
          <p:nvPr/>
        </p:nvSpPr>
        <p:spPr>
          <a:xfrm>
            <a:off x="1562100" y="1884015"/>
            <a:ext cx="215289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750"/>
              </a:spcBef>
              <a:buNone/>
            </a:pPr>
            <a:r>
              <a:rPr lang="en-US" sz="900" dirty="0">
                <a:solidFill>
                  <a:srgbClr val="8B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in industrial IT, AI, and sustainability. Building climate tech for intelligent industries.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609600" y="2569815"/>
            <a:ext cx="3063180" cy="9525"/>
          </a:xfrm>
          <a:prstGeom prst="rect">
            <a:avLst/>
          </a:prstGeom>
          <a:solidFill>
            <a:srgbClr val="2D4A6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381000" y="3722340"/>
            <a:ext cx="1109960" cy="799951"/>
          </a:xfrm>
          <a:prstGeom prst="roundRect">
            <a:avLst>
              <a:gd name="adj" fmla="val 9526"/>
            </a:avLst>
          </a:prstGeom>
          <a:solidFill>
            <a:srgbClr val="1624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486486" y="4122390"/>
            <a:ext cx="8989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27001</a:t>
            </a:r>
            <a:endParaRPr lang="en-US" sz="825" dirty="0"/>
          </a:p>
        </p:txBody>
      </p:sp>
      <p:sp>
        <p:nvSpPr>
          <p:cNvPr id="13" name="Text 8"/>
          <p:cNvSpPr/>
          <p:nvPr/>
        </p:nvSpPr>
        <p:spPr>
          <a:xfrm>
            <a:off x="486486" y="4288036"/>
            <a:ext cx="89898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8B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</a:t>
            </a:r>
            <a:endParaRPr lang="en-US" sz="675" dirty="0"/>
          </a:p>
        </p:txBody>
      </p:sp>
      <p:sp>
        <p:nvSpPr>
          <p:cNvPr id="14" name="Text 9"/>
          <p:cNvSpPr/>
          <p:nvPr/>
        </p:nvSpPr>
        <p:spPr>
          <a:xfrm>
            <a:off x="1586210" y="3722340"/>
            <a:ext cx="1109960" cy="799951"/>
          </a:xfrm>
          <a:prstGeom prst="roundRect">
            <a:avLst>
              <a:gd name="adj" fmla="val 9526"/>
            </a:avLst>
          </a:prstGeom>
          <a:solidFill>
            <a:srgbClr val="1624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1691697" y="4122390"/>
            <a:ext cx="8989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Data</a:t>
            </a:r>
            <a:endParaRPr lang="en-US" sz="825" dirty="0"/>
          </a:p>
        </p:txBody>
      </p:sp>
      <p:sp>
        <p:nvSpPr>
          <p:cNvPr id="16" name="Text 11"/>
          <p:cNvSpPr/>
          <p:nvPr/>
        </p:nvSpPr>
        <p:spPr>
          <a:xfrm>
            <a:off x="1691697" y="4288036"/>
            <a:ext cx="89898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8B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Residency</a:t>
            </a:r>
            <a:endParaRPr lang="en-US" sz="675" dirty="0"/>
          </a:p>
        </p:txBody>
      </p:sp>
      <p:sp>
        <p:nvSpPr>
          <p:cNvPr id="17" name="Text 12"/>
          <p:cNvSpPr/>
          <p:nvPr/>
        </p:nvSpPr>
        <p:spPr>
          <a:xfrm>
            <a:off x="2791420" y="3722340"/>
            <a:ext cx="1109960" cy="799951"/>
          </a:xfrm>
          <a:prstGeom prst="roundRect">
            <a:avLst>
              <a:gd name="adj" fmla="val 9526"/>
            </a:avLst>
          </a:prstGeom>
          <a:solidFill>
            <a:srgbClr val="1624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2896907" y="4122390"/>
            <a:ext cx="8989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GDPR</a:t>
            </a:r>
            <a:endParaRPr lang="en-US" sz="825" dirty="0"/>
          </a:p>
        </p:txBody>
      </p:sp>
      <p:sp>
        <p:nvSpPr>
          <p:cNvPr id="19" name="Text 14"/>
          <p:cNvSpPr/>
          <p:nvPr/>
        </p:nvSpPr>
        <p:spPr>
          <a:xfrm>
            <a:off x="2896907" y="4288036"/>
            <a:ext cx="89898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8B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Compliant</a:t>
            </a:r>
            <a:endParaRPr lang="en-US" sz="675" dirty="0"/>
          </a:p>
        </p:txBody>
      </p:sp>
      <p:pic>
        <p:nvPicPr>
          <p:cNvPr id="20" name="Image 3" descr="/tmp/rasterized-gradient-fadfe78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8080" y="781348"/>
            <a:ext cx="4594920" cy="132382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396680" y="1009948"/>
            <a:ext cx="422047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VISION</a:t>
            </a:r>
            <a:endParaRPr lang="en-US" sz="825" dirty="0"/>
          </a:p>
        </p:txBody>
      </p:sp>
      <p:sp>
        <p:nvSpPr>
          <p:cNvPr id="22" name="Text 16"/>
          <p:cNvSpPr/>
          <p:nvPr/>
        </p:nvSpPr>
        <p:spPr>
          <a:xfrm>
            <a:off x="4396680" y="1289893"/>
            <a:ext cx="4220474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10"/>
              </a:lnSpc>
              <a:spcBef>
                <a:spcPts val="1050"/>
              </a:spcBef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DWS IQ as the "brain" for intelligent, low-carbon industries in Europe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4168080" y="2238524"/>
            <a:ext cx="4594920" cy="1529507"/>
          </a:xfrm>
          <a:prstGeom prst="roundRect">
            <a:avLst>
              <a:gd name="adj" fmla="val 7473"/>
            </a:avLst>
          </a:prstGeom>
          <a:solidFill>
            <a:srgbClr val="1624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8"/>
          <p:cNvSpPr/>
          <p:nvPr/>
        </p:nvSpPr>
        <p:spPr>
          <a:xfrm>
            <a:off x="4339530" y="2409974"/>
            <a:ext cx="433706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b="1" dirty="0">
                <a:solidFill>
                  <a:srgbClr val="8B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INVEST NOW</a:t>
            </a:r>
            <a:endParaRPr lang="en-US" sz="825" dirty="0"/>
          </a:p>
        </p:txBody>
      </p:sp>
      <p:sp>
        <p:nvSpPr>
          <p:cNvPr id="25" name="Text 19"/>
          <p:cNvSpPr/>
          <p:nvPr/>
        </p:nvSpPr>
        <p:spPr>
          <a:xfrm>
            <a:off x="4587180" y="2670870"/>
            <a:ext cx="30266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tailwind: 2028 mandate creates urgent demand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4587180" y="2926110"/>
            <a:ext cx="247912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moat: 25× faster, €333k/yr cost advantage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4587180" y="3181350"/>
            <a:ext cx="31894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efficient: €135k credits = 6 years infrastructure runway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4587180" y="3436590"/>
            <a:ext cx="242082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to profit: +€281k in Month 12, Seed-ready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4168080" y="3901380"/>
            <a:ext cx="4594920" cy="902791"/>
          </a:xfrm>
          <a:prstGeom prst="roundRect">
            <a:avLst>
              <a:gd name="adj" fmla="val 12661"/>
            </a:avLst>
          </a:prstGeom>
          <a:solidFill>
            <a:srgbClr val="0A1628"/>
          </a:solidFill>
          <a:ln w="19050">
            <a:solidFill>
              <a:srgbClr val="00C85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4316441" y="4091880"/>
            <a:ext cx="429819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discuss how DWS IQ 6 can transform climate compliance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4316441" y="4373761"/>
            <a:ext cx="429819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Bef>
                <a:spcPts val="750"/>
              </a:spcBef>
              <a:buNone/>
            </a:pPr>
            <a:r>
              <a:rPr lang="en-US" sz="1350" b="1" dirty="0">
                <a:solidFill>
                  <a:srgbClr val="00C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risto@lifetime.fi • Ecosummit 2026</a:t>
            </a:r>
            <a:endParaRPr lang="en-US" sz="1350" dirty="0"/>
          </a:p>
        </p:txBody>
      </p:sp>
      <p:pic>
        <p:nvPicPr>
          <p:cNvPr id="32" name="Image 4" descr="/tmp/rasterized-gradient-6f37656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4724400"/>
            <a:ext cx="228600" cy="22860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8540502" y="4772025"/>
            <a:ext cx="2269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8B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dws6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1837</Words>
  <Application>Microsoft Office PowerPoint</Application>
  <PresentationFormat>Näytössä katseltava esitys (16:9)</PresentationFormat>
  <Paragraphs>290</Paragraphs>
  <Slides>10</Slides>
  <Notes>10</Notes>
  <HiddenSlides>0</HiddenSlides>
  <MMClips>0</MMClips>
  <ScaleCrop>false</ScaleCrop>
  <HeadingPairs>
    <vt:vector size="6" baseType="variant">
      <vt:variant>
        <vt:lpstr>Käytetyt fontit</vt:lpstr>
      </vt:variant>
      <vt:variant>
        <vt:i4>1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</vt:vector>
  </TitlesOfParts>
  <Company>Lifetime Oy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DWS IQ 6 - Ecosummit 2026</dc:title>
  <dc:subject>Investor Deck for Ecosummit 2026</dc:subject>
  <dc:creator>Risto Anton Päärni</dc:creator>
  <cp:lastModifiedBy>Risto Päärni</cp:lastModifiedBy>
  <cp:revision>3</cp:revision>
  <dcterms:created xsi:type="dcterms:W3CDTF">2025-12-01T17:43:23Z</dcterms:created>
  <dcterms:modified xsi:type="dcterms:W3CDTF">2025-12-01T18:02:31Z</dcterms:modified>
</cp:coreProperties>
</file>