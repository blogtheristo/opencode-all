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8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8B6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1" i="0">
                <a:solidFill>
                  <a:srgbClr val="E8B64C"/>
                </a:solidFill>
                <a:latin typeface="Arial"/>
              </a:rPr>
              <a:t>LIFETIME OY · ESPOO, FINLAND · EIC ACCELERATOR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7200" b="1" i="0">
                <a:solidFill>
                  <a:srgbClr val="E8B64C"/>
                </a:solidFill>
                <a:latin typeface="Arial"/>
              </a:rPr>
              <a:t>AEGIS</a:t>
            </a:r>
          </a:p>
          <a:p>
            <a:pPr>
              <a:lnSpc>
                <a:spcPct val="100000"/>
              </a:lnSpc>
            </a:pPr>
            <a:r>
              <a:rPr sz="3400" b="1" i="0">
                <a:solidFill>
                  <a:srgbClr val="FFFFFF"/>
                </a:solidFill>
                <a:latin typeface="Arial"/>
              </a:rPr>
              <a:t>Sovereign AI agents that act for regulated Europe.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29768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000" b="0" i="0">
                <a:solidFill>
                  <a:srgbClr val="9FB3D1"/>
                </a:solidFill>
                <a:latin typeface="Arial"/>
              </a:rPr>
              <a:t>KYA — Know Your Agent — running in production. Aegis, the sovereign dual-use tier, GA September 2026.  €2.5M grant-only · TRL 5→8.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62356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E8B64C"/>
                </a:solidFill>
                <a:latin typeface="Arial"/>
              </a:rPr>
              <a:t>NVIDIA Connect ISV Partner    ·    IBM Business Partner    ·    Amazon (AWS) Consulting Partner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E8B64C"/>
                </a:solidFill>
                <a:latin typeface="Arial"/>
              </a:rPr>
              <a:t>LIFETIME OY · DWS IQ AEGIS</a:t>
            </a:r>
            <a:r>
              <a:rPr sz="1000">
                <a:solidFill>
                  <a:srgbClr val="9FB3D1"/>
                </a:solidFill>
                <a:latin typeface="Arial"/>
              </a:rPr>
              <a:t>      1 / 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8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8B6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1" i="0">
                <a:solidFill>
                  <a:srgbClr val="E8B64C"/>
                </a:solidFill>
                <a:latin typeface="Arial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9728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00000"/>
              </a:lnSpc>
            </a:pPr>
            <a:r>
              <a:rPr sz="4000" b="1" i="0">
                <a:solidFill>
                  <a:srgbClr val="FFFFFF"/>
                </a:solidFill>
                <a:latin typeface="Arial"/>
              </a:rPr>
              <a:t>Who is in control?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46888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000" b="1" i="0">
                <a:solidFill>
                  <a:srgbClr val="E8B64C"/>
                </a:solidFill>
                <a:latin typeface="Arial"/>
              </a:rPr>
              <a:t>▪  </a:t>
            </a:r>
            <a:r>
              <a:rPr sz="2000" b="0" i="0">
                <a:solidFill>
                  <a:srgbClr val="EAF1FB"/>
                </a:solidFill>
                <a:latin typeface="Arial"/>
              </a:rPr>
              <a:t>AI agents are starting to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act and pay</a:t>
            </a:r>
            <a:r>
              <a:rPr sz="2000" b="0" i="0">
                <a:solidFill>
                  <a:srgbClr val="EAF1FB"/>
                </a:solidFill>
                <a:latin typeface="Arial"/>
              </a:rPr>
              <a:t> for enterprises.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000" b="1" i="0">
                <a:solidFill>
                  <a:srgbClr val="E8B64C"/>
                </a:solidFill>
                <a:latin typeface="Arial"/>
              </a:rPr>
              <a:t>▪  </a:t>
            </a:r>
            <a:r>
              <a:rPr sz="2000" b="0" i="0">
                <a:solidFill>
                  <a:srgbClr val="EAF1FB"/>
                </a:solidFill>
                <a:latin typeface="Arial"/>
              </a:rPr>
              <a:t>Europe regulates the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humans</a:t>
            </a:r>
            <a:r>
              <a:rPr sz="2000" b="0" i="0">
                <a:solidFill>
                  <a:srgbClr val="EAF1FB"/>
                </a:solidFill>
                <a:latin typeface="Arial"/>
              </a:rPr>
              <a:t> and the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models</a:t>
            </a:r>
            <a:r>
              <a:rPr sz="2000" b="0" i="0">
                <a:solidFill>
                  <a:srgbClr val="EAF1FB"/>
                </a:solidFill>
                <a:latin typeface="Arial"/>
              </a:rPr>
              <a:t> — nothing regulates the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agent</a:t>
            </a:r>
            <a:r>
              <a:rPr sz="2000" b="0" i="0">
                <a:solidFill>
                  <a:srgbClr val="EAF1FB"/>
                </a:solidFill>
                <a:latin typeface="Arial"/>
              </a:rPr>
              <a:t>.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000" b="1" i="0">
                <a:solidFill>
                  <a:srgbClr val="E8B64C"/>
                </a:solidFill>
                <a:latin typeface="Arial"/>
              </a:rPr>
              <a:t>▪  </a:t>
            </a:r>
            <a:r>
              <a:rPr sz="2000" b="0" i="0">
                <a:solidFill>
                  <a:srgbClr val="EAF1FB"/>
                </a:solidFill>
                <a:latin typeface="Arial"/>
              </a:rPr>
              <a:t>Every answer today (x402, Google AP2, Stripe) is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US-custodial</a:t>
            </a:r>
            <a:r>
              <a:rPr sz="2000" b="0" i="0">
                <a:solidFill>
                  <a:srgbClr val="EAF1FB"/>
                </a:solidFill>
                <a:latin typeface="Arial"/>
              </a:rPr>
              <a:t> and binds the human, not the agent.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000" b="1" i="0">
                <a:solidFill>
                  <a:srgbClr val="E8B64C"/>
                </a:solidFill>
                <a:latin typeface="Arial"/>
              </a:rPr>
              <a:t>▪  </a:t>
            </a:r>
            <a:r>
              <a:rPr sz="2000" b="0" i="0">
                <a:solidFill>
                  <a:srgbClr val="EAF1FB"/>
                </a:solidFill>
                <a:latin typeface="Arial"/>
              </a:rPr>
              <a:t>From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Dec 2027</a:t>
            </a:r>
            <a:r>
              <a:rPr sz="2000" b="0" i="0">
                <a:solidFill>
                  <a:srgbClr val="EAF1FB"/>
                </a:solidFill>
                <a:latin typeface="Arial"/>
              </a:rPr>
              <a:t>, the EU AI Act makes getting this wrong an enforceable violation.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E8B64C"/>
                </a:solidFill>
                <a:latin typeface="Arial"/>
              </a:rPr>
              <a:t>LIFETIME OY · DWS IQ AEGIS</a:t>
            </a:r>
            <a:r>
              <a:rPr sz="1000">
                <a:solidFill>
                  <a:srgbClr val="9FB3D1"/>
                </a:solidFill>
                <a:latin typeface="Arial"/>
              </a:rPr>
              <a:t>      2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8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8B6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1" i="0">
                <a:solidFill>
                  <a:srgbClr val="E8B64C"/>
                </a:solidFill>
                <a:latin typeface="Arial"/>
              </a:rPr>
              <a:t>THE SOLUTION · KYA RUNNING IN PRODUCTION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9728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00000"/>
              </a:lnSpc>
            </a:pPr>
            <a:r>
              <a:rPr sz="4000" b="1" i="0">
                <a:solidFill>
                  <a:srgbClr val="FFFFFF"/>
                </a:solidFill>
                <a:latin typeface="Arial"/>
              </a:rPr>
              <a:t>DWS IQ Aegis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46888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000" b="1" i="0">
                <a:solidFill>
                  <a:srgbClr val="E8B64C"/>
                </a:solidFill>
                <a:latin typeface="Arial"/>
              </a:rPr>
              <a:t>▪ 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KYA — Know Your Agent:</a:t>
            </a:r>
            <a:r>
              <a:rPr sz="2000" b="0" i="0">
                <a:solidFill>
                  <a:srgbClr val="EAF1FB"/>
                </a:solidFill>
                <a:latin typeface="Arial"/>
              </a:rPr>
              <a:t> identity binding · live trust score · Leash Snap revocation · Article-12 audit.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Running today.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000" b="1" i="0">
                <a:solidFill>
                  <a:srgbClr val="E8B64C"/>
                </a:solidFill>
                <a:latin typeface="Arial"/>
              </a:rPr>
              <a:t>▪  </a:t>
            </a:r>
            <a:r>
              <a:rPr sz="2000" b="0" i="0">
                <a:solidFill>
                  <a:srgbClr val="EAF1FB"/>
                </a:solidFill>
                <a:latin typeface="Arial"/>
              </a:rPr>
              <a:t>Agent fleet across the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21 EU-regulated dual-use industries</a:t>
            </a:r>
            <a:r>
              <a:rPr sz="2000" b="0" i="0">
                <a:solidFill>
                  <a:srgbClr val="EAF1FB"/>
                </a:solidFill>
                <a:latin typeface="Arial"/>
              </a:rPr>
              <a:t> in Aegis scope (25 platform-wide).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000" b="1" i="0">
                <a:solidFill>
                  <a:srgbClr val="E8B64C"/>
                </a:solidFill>
                <a:latin typeface="Arial"/>
              </a:rPr>
              <a:t>▪  </a:t>
            </a:r>
            <a:r>
              <a:rPr sz="2000" b="0" i="0">
                <a:solidFill>
                  <a:srgbClr val="EAF1FB"/>
                </a:solidFill>
                <a:latin typeface="Arial"/>
              </a:rPr>
              <a:t>Runs on the customer's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own NVIDIA DGX</a:t>
            </a:r>
            <a:r>
              <a:rPr sz="2000" b="0" i="0">
                <a:solidFill>
                  <a:srgbClr val="EAF1FB"/>
                </a:solidFill>
                <a:latin typeface="Arial"/>
              </a:rPr>
              <a:t> — on-prem, weights stay on customer hardware.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000" b="1" i="0">
                <a:solidFill>
                  <a:srgbClr val="E8B64C"/>
                </a:solidFill>
                <a:latin typeface="Arial"/>
              </a:rPr>
              <a:t>▪ 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Aegis GA September 2026</a:t>
            </a:r>
            <a:r>
              <a:rPr sz="2000" b="0" i="0">
                <a:solidFill>
                  <a:srgbClr val="EAF1FB"/>
                </a:solidFill>
                <a:latin typeface="Arial"/>
              </a:rPr>
              <a:t> — pre-revenue today. The grant funds the leap.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E8B64C"/>
                </a:solidFill>
                <a:latin typeface="Arial"/>
              </a:rPr>
              <a:t>LIFETIME OY · DWS IQ AEGIS</a:t>
            </a:r>
            <a:r>
              <a:rPr sz="1000">
                <a:solidFill>
                  <a:srgbClr val="9FB3D1"/>
                </a:solidFill>
                <a:latin typeface="Arial"/>
              </a:rPr>
              <a:t>      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8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8B6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1" i="0">
                <a:solidFill>
                  <a:srgbClr val="E8B64C"/>
                </a:solidFill>
                <a:latin typeface="Arial"/>
              </a:rPr>
              <a:t>THE INNOVATION · WHAT THE EIC FUNDS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9728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00000"/>
              </a:lnSpc>
            </a:pPr>
            <a:r>
              <a:rPr sz="3400" b="1" i="0">
                <a:solidFill>
                  <a:srgbClr val="FFFFFF"/>
                </a:solidFill>
                <a:latin typeface="Arial"/>
              </a:rPr>
              <a:t>From gating actions → acting under mandate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46888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000" b="1" i="0">
                <a:solidFill>
                  <a:srgbClr val="E8B64C"/>
                </a:solidFill>
                <a:latin typeface="Arial"/>
              </a:rPr>
              <a:t>▪  </a:t>
            </a:r>
            <a:r>
              <a:rPr sz="2000" b="0" i="0">
                <a:solidFill>
                  <a:srgbClr val="EAF1FB"/>
                </a:solidFill>
                <a:latin typeface="Arial"/>
              </a:rPr>
              <a:t>A signed, revocable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mandate credential</a:t>
            </a:r>
            <a:r>
              <a:rPr sz="2000" b="0" i="0">
                <a:solidFill>
                  <a:srgbClr val="EAF1FB"/>
                </a:solidFill>
                <a:latin typeface="Arial"/>
              </a:rPr>
              <a:t> + a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selective-disclosure proof</a:t>
            </a:r>
            <a:r>
              <a:rPr sz="2000" b="0" i="0">
                <a:solidFill>
                  <a:srgbClr val="EAF1FB"/>
                </a:solidFill>
                <a:latin typeface="Arial"/>
              </a:rPr>
              <a:t>.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000" b="1" i="0">
                <a:solidFill>
                  <a:srgbClr val="E8B64C"/>
                </a:solidFill>
                <a:latin typeface="Arial"/>
              </a:rPr>
              <a:t>▪ 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Tier-aware Sovereignty Profile</a:t>
            </a:r>
            <a:r>
              <a:rPr sz="2000" b="0" i="0">
                <a:solidFill>
                  <a:srgbClr val="EAF1FB"/>
                </a:solidFill>
                <a:latin typeface="Arial"/>
              </a:rPr>
              <a:t> (cloud · on-prem DGX · hybrid).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000" b="1" i="0">
                <a:solidFill>
                  <a:srgbClr val="E8B64C"/>
                </a:solidFill>
                <a:latin typeface="Arial"/>
              </a:rPr>
              <a:t>▪ 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Signed Sovereignty Attestation</a:t>
            </a:r>
            <a:r>
              <a:rPr sz="2000" b="0" i="0">
                <a:solidFill>
                  <a:srgbClr val="EAF1FB"/>
                </a:solidFill>
                <a:latin typeface="Arial"/>
              </a:rPr>
              <a:t> → EU AI Act compliance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machine-verifiable</a:t>
            </a:r>
            <a:r>
              <a:rPr sz="2000" b="0" i="0">
                <a:solidFill>
                  <a:srgbClr val="EAF1FB"/>
                </a:solidFill>
                <a:latin typeface="Arial"/>
              </a:rPr>
              <a:t> across cloud, edge, air-gap.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000" b="1" i="0">
                <a:solidFill>
                  <a:srgbClr val="E8B64C"/>
                </a:solidFill>
                <a:latin typeface="Arial"/>
              </a:rPr>
              <a:t>▪  </a:t>
            </a:r>
            <a:r>
              <a:rPr sz="2000" b="0" i="0">
                <a:solidFill>
                  <a:srgbClr val="EAF1FB"/>
                </a:solidFill>
                <a:latin typeface="Arial"/>
              </a:rPr>
              <a:t>Deep tech (zero-knowledge cryptography).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TRL 6→8.</a:t>
            </a:r>
            <a:r>
              <a:rPr sz="2000" b="0" i="0">
                <a:solidFill>
                  <a:srgbClr val="EAF1FB"/>
                </a:solidFill>
                <a:latin typeface="Arial"/>
              </a:rPr>
              <a:t> The lead patent claim.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E8B64C"/>
                </a:solidFill>
                <a:latin typeface="Arial"/>
              </a:rPr>
              <a:t>LIFETIME OY · DWS IQ AEGIS</a:t>
            </a:r>
            <a:r>
              <a:rPr sz="1000">
                <a:solidFill>
                  <a:srgbClr val="9FB3D1"/>
                </a:solidFill>
                <a:latin typeface="Arial"/>
              </a:rPr>
              <a:t>      4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8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8B6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1" i="0">
                <a:solidFill>
                  <a:srgbClr val="E8B64C"/>
                </a:solidFill>
                <a:latin typeface="Arial"/>
              </a:rPr>
              <a:t>WHY 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9728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00000"/>
              </a:lnSpc>
            </a:pPr>
            <a:r>
              <a:rPr sz="4000" b="1" i="0">
                <a:solidFill>
                  <a:srgbClr val="FFFFFF"/>
                </a:solidFill>
                <a:latin typeface="Arial"/>
              </a:rPr>
              <a:t>Regulation creates the demand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46888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000" b="1" i="0">
                <a:solidFill>
                  <a:srgbClr val="E8B64C"/>
                </a:solidFill>
                <a:latin typeface="Arial"/>
              </a:rPr>
              <a:t>▪  </a:t>
            </a:r>
            <a:r>
              <a:rPr sz="2000" b="0" i="0">
                <a:solidFill>
                  <a:srgbClr val="EAF1FB"/>
                </a:solidFill>
                <a:latin typeface="Arial"/>
              </a:rPr>
              <a:t>EU AI Act Articles 12/14/72 enforce for high-risk systems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Dec 2027</a:t>
            </a:r>
            <a:r>
              <a:rPr sz="2000" b="0" i="0">
                <a:solidFill>
                  <a:srgbClr val="EAF1FB"/>
                </a:solidFill>
                <a:latin typeface="Arial"/>
              </a:rPr>
              <a:t>.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000" b="1" i="0">
                <a:solidFill>
                  <a:srgbClr val="E8B64C"/>
                </a:solidFill>
                <a:latin typeface="Arial"/>
              </a:rPr>
              <a:t>▪  </a:t>
            </a:r>
            <a:r>
              <a:rPr sz="2000" b="0" i="0">
                <a:solidFill>
                  <a:srgbClr val="EAF1FB"/>
                </a:solidFill>
                <a:latin typeface="Arial"/>
              </a:rPr>
              <a:t>EU sovereign rails: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EUDI Wallet</a:t>
            </a:r>
            <a:r>
              <a:rPr sz="2000" b="0" i="0">
                <a:solidFill>
                  <a:srgbClr val="EAF1FB"/>
                </a:solidFill>
                <a:latin typeface="Arial"/>
              </a:rPr>
              <a:t> (law 12/2026),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ECB Digital Euro</a:t>
            </a:r>
            <a:r>
              <a:rPr sz="2000" b="0" i="0">
                <a:solidFill>
                  <a:srgbClr val="EAF1FB"/>
                </a:solidFill>
                <a:latin typeface="Arial"/>
              </a:rPr>
              <a:t> pilot H2 2027.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000" b="1" i="0">
                <a:solidFill>
                  <a:srgbClr val="E8B64C"/>
                </a:solidFill>
                <a:latin typeface="Arial"/>
              </a:rPr>
              <a:t>▪  </a:t>
            </a:r>
            <a:r>
              <a:rPr sz="2000" b="0" i="0">
                <a:solidFill>
                  <a:srgbClr val="EAF1FB"/>
                </a:solidFill>
                <a:latin typeface="Arial"/>
              </a:rPr>
              <a:t>Agents transacting on EU rails need an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EU-sovereign trust layer</a:t>
            </a:r>
            <a:r>
              <a:rPr sz="2000" b="0" i="0">
                <a:solidFill>
                  <a:srgbClr val="EAF1FB"/>
                </a:solidFill>
                <a:latin typeface="Arial"/>
              </a:rPr>
              <a:t>. US card-rail answers can't plug in.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E8B64C"/>
                </a:solidFill>
                <a:latin typeface="Arial"/>
              </a:rPr>
              <a:t>LIFETIME OY · DWS IQ AEGIS</a:t>
            </a:r>
            <a:r>
              <a:rPr sz="1000">
                <a:solidFill>
                  <a:srgbClr val="9FB3D1"/>
                </a:solidFill>
                <a:latin typeface="Arial"/>
              </a:rPr>
              <a:t>      5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8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8B6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1" i="0">
                <a:solidFill>
                  <a:srgbClr val="E8B64C"/>
                </a:solidFill>
                <a:latin typeface="Arial"/>
              </a:rPr>
              <a:t>MARKET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9728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00000"/>
              </a:lnSpc>
            </a:pPr>
            <a:r>
              <a:rPr sz="4000" b="1" i="0">
                <a:solidFill>
                  <a:srgbClr val="FFFFFF"/>
                </a:solidFill>
                <a:latin typeface="Arial"/>
              </a:rPr>
              <a:t>Regulated EU industry — and beyond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46888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000" b="1" i="0">
                <a:solidFill>
                  <a:srgbClr val="E8B64C"/>
                </a:solidFill>
                <a:latin typeface="Arial"/>
              </a:rPr>
              <a:t>▪  </a:t>
            </a:r>
            <a:r>
              <a:rPr sz="2000" b="0" i="0">
                <a:solidFill>
                  <a:srgbClr val="EAF1FB"/>
                </a:solidFill>
                <a:latin typeface="Arial"/>
              </a:rPr>
              <a:t>Energy, manufacturing, construction, logistics, finance, healthcare —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25 verticals</a:t>
            </a:r>
            <a:r>
              <a:rPr sz="2000" b="0" i="0">
                <a:solidFill>
                  <a:srgbClr val="EAF1FB"/>
                </a:solidFill>
                <a:latin typeface="Arial"/>
              </a:rPr>
              <a:t>.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000" b="1" i="0">
                <a:solidFill>
                  <a:srgbClr val="E8B64C"/>
                </a:solidFill>
                <a:latin typeface="Arial"/>
              </a:rPr>
              <a:t>▪  </a:t>
            </a:r>
            <a:r>
              <a:rPr sz="2000" b="0" i="0">
                <a:solidFill>
                  <a:srgbClr val="EAF1FB"/>
                </a:solidFill>
                <a:latin typeface="Arial"/>
              </a:rPr>
              <a:t>Carbon/compliance software: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~$24B (2025) → ~$191B (2035)</a:t>
            </a:r>
            <a:r>
              <a:rPr sz="2000" b="0" i="0">
                <a:solidFill>
                  <a:srgbClr val="EAF1FB"/>
                </a:solidFill>
                <a:latin typeface="Arial"/>
              </a:rPr>
              <a:t>, 22.9% CAGR.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000" b="1" i="0">
                <a:solidFill>
                  <a:srgbClr val="E8B64C"/>
                </a:solidFill>
                <a:latin typeface="Arial"/>
              </a:rPr>
              <a:t>▪  </a:t>
            </a:r>
            <a:r>
              <a:rPr sz="2000" b="0" i="0">
                <a:solidFill>
                  <a:srgbClr val="EAF1FB"/>
                </a:solidFill>
                <a:latin typeface="Arial"/>
              </a:rPr>
              <a:t>Cross-domain pull: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EDA</a:t>
            </a:r>
            <a:r>
              <a:rPr sz="2000" b="0" i="0">
                <a:solidFill>
                  <a:srgbClr val="EAF1FB"/>
                </a:solidFill>
                <a:latin typeface="Arial"/>
              </a:rPr>
              <a:t> — NVIDIA &amp; Si2 DAC 2026 panel "Agentic AI: Who's in Control?"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E8B64C"/>
                </a:solidFill>
                <a:latin typeface="Arial"/>
              </a:rPr>
              <a:t>LIFETIME OY · DWS IQ AEGIS</a:t>
            </a:r>
            <a:r>
              <a:rPr sz="1000">
                <a:solidFill>
                  <a:srgbClr val="9FB3D1"/>
                </a:solidFill>
                <a:latin typeface="Arial"/>
              </a:rPr>
              <a:t>      6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8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8B6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1" i="0">
                <a:solidFill>
                  <a:srgbClr val="E8B64C"/>
                </a:solidFill>
                <a:latin typeface="Arial"/>
              </a:rPr>
              <a:t>BUSINESS MODEL · TRACTION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9728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00000"/>
              </a:lnSpc>
            </a:pPr>
            <a:r>
              <a:rPr sz="4000" b="1" i="0">
                <a:solidFill>
                  <a:srgbClr val="FFFFFF"/>
                </a:solidFill>
                <a:latin typeface="Arial"/>
              </a:rPr>
              <a:t>A model that already prices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46888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000" b="1" i="0">
                <a:solidFill>
                  <a:srgbClr val="E8B64C"/>
                </a:solidFill>
                <a:latin typeface="Arial"/>
              </a:rPr>
              <a:t>▪  </a:t>
            </a:r>
            <a:r>
              <a:rPr sz="2000" b="0" i="0">
                <a:solidFill>
                  <a:srgbClr val="EAF1FB"/>
                </a:solidFill>
                <a:latin typeface="Arial"/>
              </a:rPr>
              <a:t>Aegis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€59,990</a:t>
            </a:r>
            <a:r>
              <a:rPr sz="2000" b="0" i="0">
                <a:solidFill>
                  <a:srgbClr val="EAF1FB"/>
                </a:solidFill>
                <a:latin typeface="Arial"/>
              </a:rPr>
              <a:t> + subscriptions (€499–€2,999/mo) + outcome SKUs + grant-enabled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action tier</a:t>
            </a:r>
            <a:r>
              <a:rPr sz="2000" b="0" i="0">
                <a:solidFill>
                  <a:srgbClr val="EAF1FB"/>
                </a:solidFill>
                <a:latin typeface="Arial"/>
              </a:rPr>
              <a:t>.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000" b="1" i="0">
                <a:solidFill>
                  <a:srgbClr val="E8B64C"/>
                </a:solidFill>
                <a:latin typeface="Arial"/>
              </a:rPr>
              <a:t>▪ 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Cash break-even</a:t>
            </a:r>
            <a:r>
              <a:rPr sz="2000" b="0" i="0">
                <a:solidFill>
                  <a:srgbClr val="EAF1FB"/>
                </a:solidFill>
                <a:latin typeface="Arial"/>
              </a:rPr>
              <a:t> on founder transport + consulting revenue;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2 enterprise pilots contracted Q1/26</a:t>
            </a:r>
            <a:r>
              <a:rPr sz="2000" b="0" i="0">
                <a:solidFill>
                  <a:srgbClr val="EAF1FB"/>
                </a:solidFill>
                <a:latin typeface="Arial"/>
              </a:rPr>
              <a:t>; Outokumpu + Kemira in discussion.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000" b="1" i="0">
                <a:solidFill>
                  <a:srgbClr val="E8B64C"/>
                </a:solidFill>
                <a:latin typeface="Arial"/>
              </a:rPr>
              <a:t>▪  </a:t>
            </a:r>
            <a:r>
              <a:rPr sz="2000" b="0" i="0">
                <a:solidFill>
                  <a:srgbClr val="EAF1FB"/>
                </a:solidFill>
                <a:latin typeface="Arial"/>
              </a:rPr>
              <a:t>Every conformant third-party agent becomes a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channel</a:t>
            </a:r>
            <a:r>
              <a:rPr sz="2000" b="0" i="0">
                <a:solidFill>
                  <a:srgbClr val="EAF1FB"/>
                </a:solidFill>
                <a:latin typeface="Arial"/>
              </a:rPr>
              <a:t>, not a competitor.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E8B64C"/>
                </a:solidFill>
                <a:latin typeface="Arial"/>
              </a:rPr>
              <a:t>LIFETIME OY · DWS IQ AEGIS</a:t>
            </a:r>
            <a:r>
              <a:rPr sz="1000">
                <a:solidFill>
                  <a:srgbClr val="9FB3D1"/>
                </a:solidFill>
                <a:latin typeface="Arial"/>
              </a:rPr>
              <a:t>      7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8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8B6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1" i="0">
                <a:solidFill>
                  <a:srgbClr val="E8B64C"/>
                </a:solidFill>
                <a:latin typeface="Arial"/>
              </a:rPr>
              <a:t>COMPETITION · THE SOVEREIGNTY WEDGE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9728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00000"/>
              </a:lnSpc>
            </a:pPr>
            <a:r>
              <a:rPr sz="4000" b="1" i="0">
                <a:solidFill>
                  <a:srgbClr val="FFFFFF"/>
                </a:solidFill>
                <a:latin typeface="Arial"/>
              </a:rPr>
              <a:t>Only one platform ticks all four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46888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000" b="1" i="0">
                <a:solidFill>
                  <a:srgbClr val="E8B64C"/>
                </a:solidFill>
                <a:latin typeface="Arial"/>
              </a:rPr>
              <a:t>▪ 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EU-sovereign × agent-native × compliance-native × dual-use</a:t>
            </a:r>
            <a:r>
              <a:rPr sz="2000" b="0" i="0">
                <a:solidFill>
                  <a:srgbClr val="EAF1FB"/>
                </a:solidFill>
                <a:latin typeface="Arial"/>
              </a:rPr>
              <a:t> = DWS IQ Aegis.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000" b="1" i="0">
                <a:solidFill>
                  <a:srgbClr val="E8B64C"/>
                </a:solidFill>
                <a:latin typeface="Arial"/>
              </a:rPr>
              <a:t>▪  </a:t>
            </a:r>
            <a:r>
              <a:rPr sz="2000" b="0" i="0">
                <a:solidFill>
                  <a:srgbClr val="EAF1FB"/>
                </a:solidFill>
                <a:latin typeface="Arial"/>
              </a:rPr>
              <a:t>x402 / AP2 / Stripe: US, card/crypto rails. Shufti/Onfido: verify humans, not agents.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000" b="1" i="0">
                <a:solidFill>
                  <a:srgbClr val="E8B64C"/>
                </a:solidFill>
                <a:latin typeface="Arial"/>
              </a:rPr>
              <a:t>▪  </a:t>
            </a:r>
            <a:r>
              <a:rPr sz="2000" b="0" i="0">
                <a:solidFill>
                  <a:srgbClr val="EAF1FB"/>
                </a:solidFill>
                <a:latin typeface="Arial"/>
              </a:rPr>
              <a:t>US players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can't</a:t>
            </a:r>
            <a:r>
              <a:rPr sz="2000" b="0" i="0">
                <a:solidFill>
                  <a:srgbClr val="EAF1FB"/>
                </a:solidFill>
                <a:latin typeface="Arial"/>
              </a:rPr>
              <a:t> run inference in your building (CLOUD Act) or settle on EU rails. Aegis can.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E8B64C"/>
                </a:solidFill>
                <a:latin typeface="Arial"/>
              </a:rPr>
              <a:t>LIFETIME OY · DWS IQ AEGIS</a:t>
            </a:r>
            <a:r>
              <a:rPr sz="1000">
                <a:solidFill>
                  <a:srgbClr val="9FB3D1"/>
                </a:solidFill>
                <a:latin typeface="Arial"/>
              </a:rPr>
              <a:t>      8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8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8B6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1" i="0">
                <a:solidFill>
                  <a:srgbClr val="E8B64C"/>
                </a:solidFill>
                <a:latin typeface="Arial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9728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00000"/>
              </a:lnSpc>
            </a:pPr>
            <a:r>
              <a:rPr sz="3200" b="1" i="0">
                <a:solidFill>
                  <a:srgbClr val="FFFFFF"/>
                </a:solidFill>
                <a:latin typeface="Arial"/>
              </a:rPr>
              <a:t>Founder-led · partner-delivered · agent-multiplied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46888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000" b="1" i="0">
                <a:solidFill>
                  <a:srgbClr val="E8B64C"/>
                </a:solidFill>
                <a:latin typeface="Arial"/>
              </a:rPr>
              <a:t>▪ 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Risto Anton Päärni</a:t>
            </a:r>
            <a:r>
              <a:rPr sz="2000" b="0" i="0">
                <a:solidFill>
                  <a:srgbClr val="EAF1FB"/>
                </a:solidFill>
                <a:latin typeface="Arial"/>
              </a:rPr>
              <a:t> — Founder &amp; CEO; architect of DWS IQ + KYA; NVIDIA/IBM/AWS partner; doctoral discussions with LUT.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000" b="1" i="0">
                <a:solidFill>
                  <a:srgbClr val="E8B64C"/>
                </a:solidFill>
                <a:latin typeface="Arial"/>
              </a:rPr>
              <a:t>▪ 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Cubet Techno Labs</a:t>
            </a:r>
            <a:r>
              <a:rPr sz="2000" b="0" i="0">
                <a:solidFill>
                  <a:srgbClr val="EAF1FB"/>
                </a:solidFill>
                <a:latin typeface="Arial"/>
              </a:rPr>
              <a:t> — CEO John Lovegin: standing bench ~20 engineers, no key-person risk, NDA in force.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000" b="1" i="0">
                <a:solidFill>
                  <a:srgbClr val="E8B64C"/>
                </a:solidFill>
                <a:latin typeface="Arial"/>
              </a:rPr>
              <a:t>▪  </a:t>
            </a:r>
            <a:r>
              <a:rPr sz="2000" b="0" i="0">
                <a:solidFill>
                  <a:srgbClr val="EAF1FB"/>
                </a:solidFill>
                <a:latin typeface="Arial"/>
              </a:rPr>
              <a:t>Academic anchoring: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LUT</a:t>
            </a:r>
            <a:r>
              <a:rPr sz="2000" b="0" i="0">
                <a:solidFill>
                  <a:srgbClr val="EAF1FB"/>
                </a:solidFill>
                <a:latin typeface="Arial"/>
              </a:rPr>
              <a:t> (quantum-safe KYA research) ·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KTH TECoSA</a:t>
            </a:r>
            <a:r>
              <a:rPr sz="2000" b="0" i="0">
                <a:solidFill>
                  <a:srgbClr val="EAF1FB"/>
                </a:solidFill>
                <a:latin typeface="Arial"/>
              </a:rPr>
              <a:t> (safety assurance) ·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Metropolia</a:t>
            </a:r>
            <a:r>
              <a:rPr sz="2000" b="0" i="0">
                <a:solidFill>
                  <a:srgbClr val="EAF1FB"/>
                </a:solidFill>
                <a:latin typeface="Arial"/>
              </a:rPr>
              <a:t> (talent, 5/5 master's).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€650K SAFE</a:t>
            </a:r>
            <a:r>
              <a:rPr sz="2000" b="0" i="0">
                <a:solidFill>
                  <a:srgbClr val="EAF1FB"/>
                </a:solidFill>
                <a:latin typeface="Arial"/>
              </a:rPr>
              <a:t> in progress.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000" b="1" i="0">
                <a:solidFill>
                  <a:srgbClr val="E8B64C"/>
                </a:solidFill>
                <a:latin typeface="Arial"/>
              </a:rPr>
              <a:t>▪ 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Two-person core</a:t>
            </a:r>
            <a:r>
              <a:rPr sz="2000" b="0" i="0">
                <a:solidFill>
                  <a:srgbClr val="EAF1FB"/>
                </a:solidFill>
                <a:latin typeface="Arial"/>
              </a:rPr>
              <a:t> + contracted engineering bench under NDA + our own agent fleet. Grant funds the key hires.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E8B64C"/>
                </a:solidFill>
                <a:latin typeface="Arial"/>
              </a:rPr>
              <a:t>LIFETIME OY · DWS IQ AEGIS</a:t>
            </a:r>
            <a:r>
              <a:rPr sz="1000">
                <a:solidFill>
                  <a:srgbClr val="9FB3D1"/>
                </a:solidFill>
                <a:latin typeface="Arial"/>
              </a:rPr>
              <a:t>      9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8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8B6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1" i="0">
                <a:solidFill>
                  <a:srgbClr val="E8B64C"/>
                </a:solidFill>
                <a:latin typeface="Arial"/>
              </a:rPr>
              <a:t>THE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9728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00000"/>
              </a:lnSpc>
            </a:pPr>
            <a:r>
              <a:rPr sz="4000" b="1" i="0">
                <a:solidFill>
                  <a:srgbClr val="FFFFFF"/>
                </a:solidFill>
                <a:latin typeface="Arial"/>
              </a:rPr>
              <a:t>€2.5M grant-only · 24 months · TRL 5→8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46888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000" b="1" i="0">
                <a:solidFill>
                  <a:srgbClr val="E8B64C"/>
                </a:solidFill>
                <a:latin typeface="Arial"/>
              </a:rPr>
              <a:t>▪ 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M6</a:t>
            </a:r>
            <a:r>
              <a:rPr sz="2000" b="0" i="0">
                <a:solidFill>
                  <a:srgbClr val="EAF1FB"/>
                </a:solidFill>
                <a:latin typeface="Arial"/>
              </a:rPr>
              <a:t> spec v1.0 + Sovereignty Profile ·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M12</a:t>
            </a:r>
            <a:r>
              <a:rPr sz="2000" b="0" i="0">
                <a:solidFill>
                  <a:srgbClr val="EAF1FB"/>
                </a:solidFill>
                <a:latin typeface="Arial"/>
              </a:rPr>
              <a:t> Signed Attestation in production.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000" b="1" i="0">
                <a:solidFill>
                  <a:srgbClr val="E8B64C"/>
                </a:solidFill>
                <a:latin typeface="Arial"/>
              </a:rPr>
              <a:t>▪ 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M18</a:t>
            </a:r>
            <a:r>
              <a:rPr sz="2000" b="0" i="0">
                <a:solidFill>
                  <a:srgbClr val="EAF1FB"/>
                </a:solidFill>
                <a:latin typeface="Arial"/>
              </a:rPr>
              <a:t> cross-border pilots (FI + SE) ·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M24</a:t>
            </a:r>
            <a:r>
              <a:rPr sz="2000" b="0" i="0">
                <a:solidFill>
                  <a:srgbClr val="EAF1FB"/>
                </a:solidFill>
                <a:latin typeface="Arial"/>
              </a:rPr>
              <a:t> certification path + €60k+ MRR.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000" b="1" i="0">
                <a:solidFill>
                  <a:srgbClr val="E8B64C"/>
                </a:solidFill>
                <a:latin typeface="Arial"/>
              </a:rPr>
              <a:t>▪  </a:t>
            </a:r>
            <a:r>
              <a:rPr sz="2000" b="0" i="0">
                <a:solidFill>
                  <a:srgbClr val="EAF1FB"/>
                </a:solidFill>
                <a:latin typeface="Arial"/>
              </a:rPr>
              <a:t>Fund the European answer for agents that transact — before the default is set elsewhere.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E8B64C"/>
                </a:solidFill>
                <a:latin typeface="Arial"/>
              </a:rPr>
              <a:t>LIFETIME OY · DWS IQ AEGIS</a:t>
            </a:r>
            <a:r>
              <a:rPr sz="1000">
                <a:solidFill>
                  <a:srgbClr val="9FB3D1"/>
                </a:solidFill>
                <a:latin typeface="Arial"/>
              </a:rPr>
              <a:t>      10 /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