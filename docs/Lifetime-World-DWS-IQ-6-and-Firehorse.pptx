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4630400" cy="8229600"/>
  <p:notesSz cx="8229600" cy="14630400"/>
  <p:embeddedFontLst>
    <p:embeddedFont>
      <p:font typeface="Alexandria Semi Bold"/>
      <p:regular r:id="rId17"/>
    </p:embeddedFont>
    <p:embeddedFont>
      <p:font typeface="Alexandria Semi Bold"/>
      <p:regular r:id="rId18"/>
    </p:embeddedFont>
    <p:embeddedFont>
      <p:font typeface="Sora Light"/>
      <p:regular r:id="rId19"/>
    </p:embeddedFont>
    <p:embeddedFont>
      <p:font typeface="Sora Light"/>
      <p:regular r:id="rId20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7EEF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AFA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svg"/><Relationship Id="rId4" Type="http://schemas.openxmlformats.org/officeDocument/2006/relationships/image" Target="../media/image-3-4.png"/><Relationship Id="rId5" Type="http://schemas.openxmlformats.org/officeDocument/2006/relationships/image" Target="../media/image-3-5.svg"/><Relationship Id="rId6" Type="http://schemas.openxmlformats.org/officeDocument/2006/relationships/image" Target="../media/image-3-6.png"/><Relationship Id="rId7" Type="http://schemas.openxmlformats.org/officeDocument/2006/relationships/image" Target="../media/image-3-7.svg"/><Relationship Id="rId8" Type="http://schemas.openxmlformats.org/officeDocument/2006/relationships/image" Target="../media/image-3-8.png"/><Relationship Id="rId9" Type="http://schemas.openxmlformats.org/officeDocument/2006/relationships/image" Target="../media/image-3-9.sv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6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4709" y="2597706"/>
            <a:ext cx="7627382" cy="142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Lifetime World – DWS IQ 6 &amp; Firehorse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44709" y="4348043"/>
            <a:ext cx="762738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Eurooppalainen ilmastotiedustelujen "komentokeskus" rakentamis- ja infrastruktuurisalkkuille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6244709" y="5285184"/>
            <a:ext cx="7627382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Lifetime Group | Espoo, Suomi | onelifetime.world | dws10.com/legal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1449705"/>
            <a:ext cx="12541091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Infrastruktuurijohtajat navigoivat pimeässä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703909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Tietosiilot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3276719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Kriittiset kustannus-, turvallisuus- ja päästötiedot ovat lukittuna erillisiin Excel-tiedostoihin ja vanhentuneisiin järjestelmiin.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7139" y="2703909"/>
            <a:ext cx="352389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Manuaalinen raportointi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7139" y="3276719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Raportointi on hidasta ja taaksepäin katsovaa – ei reaaliaikainen "komentokeskus" päätöksentekoon.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49720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Sääntelykuilu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309" y="5544860"/>
            <a:ext cx="6292572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Nykyiset työkalut eivät täytä Fit for 55:n ja CSRD:n vaatimia tiukkoja, sijoittajaluokan datatarpeita.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7587139" y="497205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Taloudellinen riski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587139" y="5544860"/>
            <a:ext cx="6292572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Vihreän rahoituksen ja julkisten tarjouskilpailujen saavuttaminen vaatii nyt täydellistä läpinäkyvyyttä sadoissa projekteissa.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3555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83486" y="390525"/>
            <a:ext cx="8149828" cy="9346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EU:n uusi sääntökirja rakentamiselle ja infrastruktuurille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983486" y="1538168"/>
            <a:ext cx="8149828" cy="1413391"/>
          </a:xfrm>
          <a:prstGeom prst="roundRect">
            <a:avLst>
              <a:gd name="adj" fmla="val 42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33148" y="1687830"/>
            <a:ext cx="426125" cy="426125"/>
          </a:xfrm>
          <a:prstGeom prst="roundRect">
            <a:avLst>
              <a:gd name="adj" fmla="val 21456346"/>
            </a:avLst>
          </a:prstGeom>
          <a:solidFill>
            <a:srgbClr val="1A2D7A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50305" y="1804988"/>
            <a:ext cx="191691" cy="191691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33148" y="2255996"/>
            <a:ext cx="1869043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Ilmastomandaatit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6133148" y="2574727"/>
            <a:ext cx="7850505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Fit for 55, CSRD ja ETS määrittävät nyt, miten salkkuja rahoitetaan ja hallinnoidaan.</a:t>
            </a:r>
            <a:endParaRPr lang="en-US" sz="1100" dirty="0"/>
          </a:p>
        </p:txBody>
      </p:sp>
      <p:sp>
        <p:nvSpPr>
          <p:cNvPr id="9" name="Shape 5"/>
          <p:cNvSpPr/>
          <p:nvPr/>
        </p:nvSpPr>
        <p:spPr>
          <a:xfrm>
            <a:off x="5983486" y="3093601"/>
            <a:ext cx="8149828" cy="1640562"/>
          </a:xfrm>
          <a:prstGeom prst="roundRect">
            <a:avLst>
              <a:gd name="adj" fmla="val 3637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33148" y="3243263"/>
            <a:ext cx="426125" cy="426125"/>
          </a:xfrm>
          <a:prstGeom prst="roundRect">
            <a:avLst>
              <a:gd name="adj" fmla="val 21456346"/>
            </a:avLst>
          </a:prstGeom>
          <a:solidFill>
            <a:srgbClr val="1A2D7A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50305" y="3360420"/>
            <a:ext cx="191691" cy="191691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33148" y="3811429"/>
            <a:ext cx="1869043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Tiedonhallinta</a:t>
            </a:r>
            <a:endParaRPr lang="en-US" sz="1450" dirty="0"/>
          </a:p>
        </p:txBody>
      </p:sp>
      <p:sp>
        <p:nvSpPr>
          <p:cNvPr id="13" name="Text 8"/>
          <p:cNvSpPr/>
          <p:nvPr/>
        </p:nvSpPr>
        <p:spPr>
          <a:xfrm>
            <a:off x="6133148" y="4130159"/>
            <a:ext cx="7850505" cy="4543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EU:n tietoasetus ja NIS2 asettavat uudet standardit datan suvereniteetille ja infrastruktuurin kyberturvallisuudelle.</a:t>
            </a:r>
            <a:endParaRPr lang="en-US" sz="1100" dirty="0"/>
          </a:p>
        </p:txBody>
      </p:sp>
      <p:sp>
        <p:nvSpPr>
          <p:cNvPr id="14" name="Shape 9"/>
          <p:cNvSpPr/>
          <p:nvPr/>
        </p:nvSpPr>
        <p:spPr>
          <a:xfrm>
            <a:off x="5983486" y="4876205"/>
            <a:ext cx="8149828" cy="1413391"/>
          </a:xfrm>
          <a:prstGeom prst="roundRect">
            <a:avLst>
              <a:gd name="adj" fmla="val 42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33148" y="5025866"/>
            <a:ext cx="426125" cy="426125"/>
          </a:xfrm>
          <a:prstGeom prst="roundRect">
            <a:avLst>
              <a:gd name="adj" fmla="val 21456346"/>
            </a:avLst>
          </a:prstGeom>
          <a:solidFill>
            <a:srgbClr val="1A2D7A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50305" y="5143024"/>
            <a:ext cx="191691" cy="191691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33148" y="5594033"/>
            <a:ext cx="2109073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Tekoälyn läpinäkyvyys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6133148" y="5912763"/>
            <a:ext cx="7850505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EU:n tekoälylaki vaatii tarkastettavan ja läpinäkyvän logiikan automatisoidussa päätöksenteossa.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5983486" y="6431637"/>
            <a:ext cx="8149828" cy="1413391"/>
          </a:xfrm>
          <a:prstGeom prst="roundRect">
            <a:avLst>
              <a:gd name="adj" fmla="val 4221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33148" y="6581299"/>
            <a:ext cx="426125" cy="426125"/>
          </a:xfrm>
          <a:prstGeom prst="roundRect">
            <a:avLst>
              <a:gd name="adj" fmla="val 21456346"/>
            </a:avLst>
          </a:prstGeom>
          <a:solidFill>
            <a:srgbClr val="1A2D7A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250305" y="6698456"/>
            <a:ext cx="191691" cy="191691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33148" y="7149465"/>
            <a:ext cx="2060138" cy="2336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Liiketoimintavaikutus</a:t>
            </a:r>
            <a:endParaRPr lang="en-US" sz="1450" dirty="0"/>
          </a:p>
        </p:txBody>
      </p:sp>
      <p:sp>
        <p:nvSpPr>
          <p:cNvPr id="23" name="Text 16"/>
          <p:cNvSpPr/>
          <p:nvPr/>
        </p:nvSpPr>
        <p:spPr>
          <a:xfrm>
            <a:off x="6133148" y="7468195"/>
            <a:ext cx="7850505" cy="227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DWS IQ 6 muuttaa nämä sääntelytaakat strategiseksi "ilmastotiedustelun" eduksi.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3538" y="537091"/>
            <a:ext cx="6518077" cy="64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DWS IQ 6 – salkun "aivot"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83538" y="1257657"/>
            <a:ext cx="8049339" cy="6424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050"/>
              </a:lnSpc>
              <a:buNone/>
            </a:pPr>
            <a:r>
              <a:rPr lang="en-US" sz="4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Firehorse – raportointimoottori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83538" y="2388275"/>
            <a:ext cx="2569964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DWS IQ 6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683538" y="2904768"/>
            <a:ext cx="7080409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Kokoaa projekti-, turvallisuus- ja energiatiedot yhdeksi reaaliaikaiseksi johtoryhmän ohjauspaneeliksi kattavan portfolionäkymän luomiseksi.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83538" y="3724870"/>
            <a:ext cx="2569964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Firehorse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83538" y="4241363"/>
            <a:ext cx="7080409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Nopea moottori, joka muuntaa raakatiedot sääntelyyn ja johtamiseen soveltuviksi raporteiksi vaivattomasti.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3538" y="5061466"/>
            <a:ext cx="2569964" cy="3212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20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Täysi hallinta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83538" y="5577959"/>
            <a:ext cx="7080409" cy="62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0"/>
              </a:lnSpc>
              <a:buNone/>
            </a:pPr>
            <a:r>
              <a:rPr lang="en-US" sz="15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Tarjoaa yhtenäisen näkymän SPI/CPI:hen, laatuun ja hiilijalanjälkeen koko salkun laajuudella.</a:t>
            </a:r>
            <a:endParaRPr lang="en-US" sz="15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48055" y="2412683"/>
            <a:ext cx="5706428" cy="57064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22168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0673" y="2705457"/>
            <a:ext cx="13389054" cy="11668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50"/>
              </a:lnSpc>
              <a:buNone/>
            </a:pPr>
            <a:r>
              <a:rPr lang="en-US" sz="36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Yksi ilmastotiedustelutaso nykyisten järjestelmien päälle</a:t>
            </a:r>
            <a:endParaRPr lang="en-US" sz="36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0673" y="4138255"/>
            <a:ext cx="4462939" cy="70937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7957" y="5024914"/>
            <a:ext cx="2333506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Tietolähteet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797957" y="5422940"/>
            <a:ext cx="4108371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ERP, IoT, Excel ja muut olemassa olevat järjestelmät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3612" y="4138255"/>
            <a:ext cx="4463058" cy="70937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260896" y="5024914"/>
            <a:ext cx="2333506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DWS IQ 6</a:t>
            </a:r>
            <a:endParaRPr lang="en-US" sz="1800" dirty="0"/>
          </a:p>
        </p:txBody>
      </p:sp>
      <p:sp>
        <p:nvSpPr>
          <p:cNvPr id="9" name="Text 4"/>
          <p:cNvSpPr/>
          <p:nvPr/>
        </p:nvSpPr>
        <p:spPr>
          <a:xfrm>
            <a:off x="5260896" y="5422940"/>
            <a:ext cx="4108490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Prosessointi, normalisointi ja tekoälyanalyysi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6669" y="4138255"/>
            <a:ext cx="4462939" cy="70937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723953" y="5024914"/>
            <a:ext cx="2333506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Firehorse</a:t>
            </a:r>
            <a:endParaRPr lang="en-US" sz="1800" dirty="0"/>
          </a:p>
        </p:txBody>
      </p:sp>
      <p:sp>
        <p:nvSpPr>
          <p:cNvPr id="12" name="Text 6"/>
          <p:cNvSpPr/>
          <p:nvPr/>
        </p:nvSpPr>
        <p:spPr>
          <a:xfrm>
            <a:off x="9723953" y="5422940"/>
            <a:ext cx="4108371" cy="2838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CSRD/ETS-raportit ja ohjauspaneelit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20673" y="6544628"/>
            <a:ext cx="4568547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Ei häiritse olemassa olevia järjestelmiä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620673" y="7013615"/>
            <a:ext cx="6478191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Yhdistyy nykyisiin ERP-, turvallisuus- ja energiatyökaluihin ilman järjestelmäuudistusta.</a:t>
            </a:r>
            <a:endParaRPr lang="en-US" sz="1350" dirty="0"/>
          </a:p>
        </p:txBody>
      </p:sp>
      <p:sp>
        <p:nvSpPr>
          <p:cNvPr id="15" name="Text 9"/>
          <p:cNvSpPr/>
          <p:nvPr/>
        </p:nvSpPr>
        <p:spPr>
          <a:xfrm>
            <a:off x="7539157" y="6544628"/>
            <a:ext cx="2629853" cy="2917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Mobiili reaaliaikaisuus</a:t>
            </a:r>
            <a:endParaRPr lang="en-US" sz="1800" dirty="0"/>
          </a:p>
        </p:txBody>
      </p:sp>
      <p:sp>
        <p:nvSpPr>
          <p:cNvPr id="16" name="Text 10"/>
          <p:cNvSpPr/>
          <p:nvPr/>
        </p:nvSpPr>
        <p:spPr>
          <a:xfrm>
            <a:off x="7539157" y="7013615"/>
            <a:ext cx="6478191" cy="5676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35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Reaaliaikainen näkyvyys C-tason johtajille, ESG-tiimeille ja projektiomistajille missä tahansa.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76461" y="496014"/>
            <a:ext cx="8163878" cy="921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29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Rakennettu eurooppalaisille rakentamis- ja infrastruktuurisalkuille</a:t>
            </a:r>
            <a:endParaRPr lang="en-US" sz="2900" dirty="0"/>
          </a:p>
        </p:txBody>
      </p:sp>
      <p:sp>
        <p:nvSpPr>
          <p:cNvPr id="4" name="Shape 1"/>
          <p:cNvSpPr/>
          <p:nvPr/>
        </p:nvSpPr>
        <p:spPr>
          <a:xfrm>
            <a:off x="5976461" y="1837134"/>
            <a:ext cx="8163878" cy="1267539"/>
          </a:xfrm>
          <a:prstGeom prst="roundRect">
            <a:avLst>
              <a:gd name="adj" fmla="val 5771"/>
            </a:avLst>
          </a:prstGeom>
          <a:solidFill>
            <a:srgbClr val="FFFAFA"/>
          </a:solidFill>
          <a:ln/>
        </p:spPr>
      </p:sp>
      <p:sp>
        <p:nvSpPr>
          <p:cNvPr id="5" name="Shape 2"/>
          <p:cNvSpPr/>
          <p:nvPr/>
        </p:nvSpPr>
        <p:spPr>
          <a:xfrm>
            <a:off x="5976461" y="1821894"/>
            <a:ext cx="8163878" cy="60960"/>
          </a:xfrm>
          <a:prstGeom prst="roundRect">
            <a:avLst>
              <a:gd name="adj" fmla="val 96483"/>
            </a:avLst>
          </a:prstGeom>
          <a:solidFill>
            <a:srgbClr val="1A2D7A"/>
          </a:solidFill>
          <a:ln/>
        </p:spPr>
      </p:sp>
      <p:sp>
        <p:nvSpPr>
          <p:cNvPr id="6" name="Shape 3"/>
          <p:cNvSpPr/>
          <p:nvPr/>
        </p:nvSpPr>
        <p:spPr>
          <a:xfrm>
            <a:off x="9848374" y="1627108"/>
            <a:ext cx="420053" cy="420053"/>
          </a:xfrm>
          <a:prstGeom prst="roundRect">
            <a:avLst>
              <a:gd name="adj" fmla="val 217687"/>
            </a:avLst>
          </a:prstGeom>
          <a:solidFill>
            <a:srgbClr val="1A2D7A"/>
          </a:solidFill>
          <a:ln/>
        </p:spPr>
      </p:sp>
      <p:sp>
        <p:nvSpPr>
          <p:cNvPr id="7" name="Text 4"/>
          <p:cNvSpPr/>
          <p:nvPr/>
        </p:nvSpPr>
        <p:spPr>
          <a:xfrm>
            <a:off x="9974342" y="1732121"/>
            <a:ext cx="167997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131719" y="2187178"/>
            <a:ext cx="184249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Kohdeasiakkaat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131719" y="2501503"/>
            <a:ext cx="7853362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Pääurakoitsijat, infrastruktuuriomaisuuden omistajat ja julkiset kiinteistösalkut, jotka hallitsevat merkittäviä pitkän elinkaaren omaisuuseriä.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976461" y="3454717"/>
            <a:ext cx="8163878" cy="1267539"/>
          </a:xfrm>
          <a:prstGeom prst="roundRect">
            <a:avLst>
              <a:gd name="adj" fmla="val 5771"/>
            </a:avLst>
          </a:prstGeom>
          <a:solidFill>
            <a:srgbClr val="FFFAFA"/>
          </a:solidFill>
          <a:ln/>
        </p:spPr>
      </p:sp>
      <p:sp>
        <p:nvSpPr>
          <p:cNvPr id="11" name="Shape 8"/>
          <p:cNvSpPr/>
          <p:nvPr/>
        </p:nvSpPr>
        <p:spPr>
          <a:xfrm>
            <a:off x="5976461" y="3439478"/>
            <a:ext cx="8163878" cy="60960"/>
          </a:xfrm>
          <a:prstGeom prst="roundRect">
            <a:avLst>
              <a:gd name="adj" fmla="val 96483"/>
            </a:avLst>
          </a:prstGeom>
          <a:solidFill>
            <a:srgbClr val="1A2D7A"/>
          </a:solidFill>
          <a:ln/>
        </p:spPr>
      </p:sp>
      <p:sp>
        <p:nvSpPr>
          <p:cNvPr id="12" name="Shape 9"/>
          <p:cNvSpPr/>
          <p:nvPr/>
        </p:nvSpPr>
        <p:spPr>
          <a:xfrm>
            <a:off x="9848374" y="3244691"/>
            <a:ext cx="420053" cy="420053"/>
          </a:xfrm>
          <a:prstGeom prst="roundRect">
            <a:avLst>
              <a:gd name="adj" fmla="val 217687"/>
            </a:avLst>
          </a:prstGeom>
          <a:solidFill>
            <a:srgbClr val="1A2D7A"/>
          </a:solidFill>
          <a:ln/>
        </p:spPr>
      </p:sp>
      <p:sp>
        <p:nvSpPr>
          <p:cNvPr id="13" name="Text 10"/>
          <p:cNvSpPr/>
          <p:nvPr/>
        </p:nvSpPr>
        <p:spPr>
          <a:xfrm>
            <a:off x="9974342" y="3349704"/>
            <a:ext cx="167997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131719" y="3804761"/>
            <a:ext cx="1842492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Ydinmarkkinat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6131719" y="4119086"/>
            <a:ext cx="7853362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Pohjoismaat ja Keski-Eurooppa (DACH), keskittyen alueisiin, joilla on tiukka EU-sääntelyyn linjautuminen ja korkeat ESG-standardit.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5976461" y="5072301"/>
            <a:ext cx="8163878" cy="1267539"/>
          </a:xfrm>
          <a:prstGeom prst="roundRect">
            <a:avLst>
              <a:gd name="adj" fmla="val 5771"/>
            </a:avLst>
          </a:prstGeom>
          <a:solidFill>
            <a:srgbClr val="FFFAFA"/>
          </a:solidFill>
          <a:ln/>
        </p:spPr>
      </p:sp>
      <p:sp>
        <p:nvSpPr>
          <p:cNvPr id="17" name="Shape 14"/>
          <p:cNvSpPr/>
          <p:nvPr/>
        </p:nvSpPr>
        <p:spPr>
          <a:xfrm>
            <a:off x="5976461" y="5057061"/>
            <a:ext cx="8163878" cy="60960"/>
          </a:xfrm>
          <a:prstGeom prst="roundRect">
            <a:avLst>
              <a:gd name="adj" fmla="val 96483"/>
            </a:avLst>
          </a:prstGeom>
          <a:solidFill>
            <a:srgbClr val="1A2D7A"/>
          </a:solidFill>
          <a:ln/>
        </p:spPr>
      </p:sp>
      <p:sp>
        <p:nvSpPr>
          <p:cNvPr id="18" name="Shape 15"/>
          <p:cNvSpPr/>
          <p:nvPr/>
        </p:nvSpPr>
        <p:spPr>
          <a:xfrm>
            <a:off x="9848374" y="4862274"/>
            <a:ext cx="420053" cy="420053"/>
          </a:xfrm>
          <a:prstGeom prst="roundRect">
            <a:avLst>
              <a:gd name="adj" fmla="val 217687"/>
            </a:avLst>
          </a:prstGeom>
          <a:solidFill>
            <a:srgbClr val="1A2D7A"/>
          </a:solidFill>
          <a:ln/>
        </p:spPr>
      </p:sp>
      <p:sp>
        <p:nvSpPr>
          <p:cNvPr id="19" name="Text 16"/>
          <p:cNvSpPr/>
          <p:nvPr/>
        </p:nvSpPr>
        <p:spPr>
          <a:xfrm>
            <a:off x="9974342" y="4967288"/>
            <a:ext cx="167997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131719" y="5422344"/>
            <a:ext cx="1925360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Optimaalinen kohde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6131719" y="5736669"/>
            <a:ext cx="7853362" cy="4479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Suuret organisaatiot, joilla on pitkän elinkaaren omaisuuseriä ja intensiivinen ESG-raportointipaine sekä julkisen rahoituksen vaatimukset.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976461" y="6689884"/>
            <a:ext cx="8163878" cy="1043583"/>
          </a:xfrm>
          <a:prstGeom prst="roundRect">
            <a:avLst>
              <a:gd name="adj" fmla="val 7010"/>
            </a:avLst>
          </a:prstGeom>
          <a:solidFill>
            <a:srgbClr val="FFFAFA"/>
          </a:solidFill>
          <a:ln/>
        </p:spPr>
      </p:sp>
      <p:sp>
        <p:nvSpPr>
          <p:cNvPr id="23" name="Shape 20"/>
          <p:cNvSpPr/>
          <p:nvPr/>
        </p:nvSpPr>
        <p:spPr>
          <a:xfrm>
            <a:off x="5976461" y="6674644"/>
            <a:ext cx="8163878" cy="60960"/>
          </a:xfrm>
          <a:prstGeom prst="roundRect">
            <a:avLst>
              <a:gd name="adj" fmla="val 96483"/>
            </a:avLst>
          </a:prstGeom>
          <a:solidFill>
            <a:srgbClr val="1A2D7A"/>
          </a:solidFill>
          <a:ln/>
        </p:spPr>
      </p:sp>
      <p:sp>
        <p:nvSpPr>
          <p:cNvPr id="24" name="Shape 21"/>
          <p:cNvSpPr/>
          <p:nvPr/>
        </p:nvSpPr>
        <p:spPr>
          <a:xfrm>
            <a:off x="9848374" y="6479858"/>
            <a:ext cx="420053" cy="420053"/>
          </a:xfrm>
          <a:prstGeom prst="roundRect">
            <a:avLst>
              <a:gd name="adj" fmla="val 217687"/>
            </a:avLst>
          </a:prstGeom>
          <a:solidFill>
            <a:srgbClr val="1A2D7A"/>
          </a:solidFill>
          <a:ln/>
        </p:spPr>
      </p:sp>
      <p:sp>
        <p:nvSpPr>
          <p:cNvPr id="25" name="Text 22"/>
          <p:cNvSpPr/>
          <p:nvPr/>
        </p:nvSpPr>
        <p:spPr>
          <a:xfrm>
            <a:off x="9974342" y="6584871"/>
            <a:ext cx="167997" cy="2100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4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131719" y="7039928"/>
            <a:ext cx="1977271" cy="2303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Todistettu vetovoima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6131719" y="7354253"/>
            <a:ext cx="7853362" cy="2239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1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Maksulliset pilotit aktiivisina ilmastologistiikassa; nyt skaalautumassa infrastruktuuriin ja rakentamiseen.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2323624"/>
            <a:ext cx="1023401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Keskeiset käyttötapaukset ja pilotit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3686175"/>
            <a:ext cx="358699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Logistiikka ja terminaalit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4172307"/>
            <a:ext cx="419076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Reaaliaikainen päästöjen ja operatiivisen tehokkuuden seuranta ilmastokriittisissä solmukohdissa, parantaen kestävyyttä ja läpinäkyvyyttä.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219819" y="3686175"/>
            <a:ext cx="3338632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Liikenneinfrastruktuuri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219819" y="4172307"/>
            <a:ext cx="4190762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Integroitu SPI/CPI ja turvallisuusvalvonta laajamittaisissa tie- ja ratahankkeissa, varmistamalla aikataulujen ja budjetin hallinnan.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9681329" y="3686175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Julkinen kiinteistö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681329" y="4172307"/>
            <a:ext cx="4190762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Salkun laajuinen CSRD-vaatimustenmukaisuus ja energiaoptimointi valtion omistamille kiinteistöille täydellisellä raportoinnilla.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58309" y="888087"/>
            <a:ext cx="9058989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Vetovoima ja liiketoimintamalli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58309" y="2142292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SaaS-tulot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58309" y="2715101"/>
            <a:ext cx="765679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Kuukausittaiset toistuvat tulot (MRR) perustuvat salkun kokoon ja aktiivisiin ominaisuusmoduuleihin, tarjoten skaalautuvan tulovirran.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58309" y="3625096"/>
            <a:ext cx="3141464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Strateginen neuvonta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58309" y="4197906"/>
            <a:ext cx="7656790" cy="10401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Korkea-arvoinen käyttöönotto ja asiantuntijapalvelut datan ja EU-vaatimusten yhdenmukaistamiseksi, lisäarvon tuottamiseksi asiakkaille.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58309" y="5454610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Ei toimittajalukkoa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58309" y="6027420"/>
            <a:ext cx="7656790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Pilviagnostinen käyttöönotto (Azure, AWS, Google) nopeuttaa yritysturvallisuuden hyväksyntää ja joustavuutta.</a:t>
            </a:r>
            <a:endParaRPr lang="en-US" sz="17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51357" y="2169438"/>
            <a:ext cx="4928235" cy="49282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58309" y="641628"/>
            <a:ext cx="6721197" cy="712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600"/>
              </a:lnSpc>
              <a:buNone/>
            </a:pPr>
            <a:r>
              <a:rPr lang="en-US" sz="445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Investointisuunnitelma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58309" y="1440894"/>
            <a:ext cx="4749879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500 000 euroa (18–24 kuukautta)</a:t>
            </a:r>
            <a:endParaRPr lang="en-US" sz="2200" dirty="0"/>
          </a:p>
        </p:txBody>
      </p:sp>
      <p:sp>
        <p:nvSpPr>
          <p:cNvPr id="5" name="Shape 2"/>
          <p:cNvSpPr/>
          <p:nvPr/>
        </p:nvSpPr>
        <p:spPr>
          <a:xfrm>
            <a:off x="758309" y="2122051"/>
            <a:ext cx="3705344" cy="3144679"/>
          </a:xfrm>
          <a:prstGeom prst="roundRect">
            <a:avLst>
              <a:gd name="adj" fmla="val 2894"/>
            </a:avLst>
          </a:prstGeom>
          <a:solidFill>
            <a:srgbClr val="1A2D7A"/>
          </a:solidFill>
          <a:ln w="7620">
            <a:solidFill>
              <a:srgbClr val="33469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982504" y="234624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Tuote ja teknologia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982504" y="2832378"/>
            <a:ext cx="3256955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40%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82504" y="3308985"/>
            <a:ext cx="3256955" cy="1386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Firehorse-automaation skaalaus ja syvät API-integraatiot olemassa oleviin yritystyökaluihin.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4680228" y="2122051"/>
            <a:ext cx="3705463" cy="3144679"/>
          </a:xfrm>
          <a:prstGeom prst="roundRect">
            <a:avLst>
              <a:gd name="adj" fmla="val 2894"/>
            </a:avLst>
          </a:prstGeom>
          <a:solidFill>
            <a:srgbClr val="1A2D7A"/>
          </a:solidFill>
          <a:ln w="7620">
            <a:solidFill>
              <a:srgbClr val="334693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904423" y="2346246"/>
            <a:ext cx="2850713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Markkinoille meno</a:t>
            </a:r>
            <a:endParaRPr lang="en-US" sz="2200" dirty="0"/>
          </a:p>
        </p:txBody>
      </p:sp>
      <p:sp>
        <p:nvSpPr>
          <p:cNvPr id="11" name="Text 8"/>
          <p:cNvSpPr/>
          <p:nvPr/>
        </p:nvSpPr>
        <p:spPr>
          <a:xfrm>
            <a:off x="4904423" y="2832378"/>
            <a:ext cx="3257074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40%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4904423" y="3308985"/>
            <a:ext cx="3257074" cy="1733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Myynnin laajentaminen ja asiakasmenestys Pohjoismaissa ja Saksassa strategisen kasvun vauhdittamiseksi.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758309" y="5483304"/>
            <a:ext cx="7627382" cy="2104549"/>
          </a:xfrm>
          <a:prstGeom prst="roundRect">
            <a:avLst>
              <a:gd name="adj" fmla="val 4324"/>
            </a:avLst>
          </a:prstGeom>
          <a:solidFill>
            <a:srgbClr val="1A2D7A"/>
          </a:solidFill>
          <a:ln w="7620">
            <a:solidFill>
              <a:srgbClr val="33469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982504" y="5707499"/>
            <a:ext cx="3414236" cy="356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Vaatimustenmukaisuus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982504" y="6193631"/>
            <a:ext cx="7178993" cy="3467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20%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982504" y="6670238"/>
            <a:ext cx="7178993" cy="6934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EU-tason turvallisuussertifikaatit ja auditoitavissa oleva dokumentaatio luotettavuuden varmistamiseksi.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5804" y="725567"/>
            <a:ext cx="8126849" cy="6728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42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Riskit ja niiden lieventäminen</a:t>
            </a:r>
            <a:endParaRPr lang="en-US" sz="4200" dirty="0"/>
          </a:p>
        </p:txBody>
      </p:sp>
      <p:sp>
        <p:nvSpPr>
          <p:cNvPr id="3" name="Text 1"/>
          <p:cNvSpPr/>
          <p:nvPr/>
        </p:nvSpPr>
        <p:spPr>
          <a:xfrm>
            <a:off x="715804" y="1909524"/>
            <a:ext cx="3229570" cy="40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Riskit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715804" y="2651998"/>
            <a:ext cx="102156" cy="102156"/>
          </a:xfrm>
          <a:prstGeom prst="roundRect">
            <a:avLst>
              <a:gd name="adj" fmla="val 447551"/>
            </a:avLst>
          </a:prstGeom>
          <a:solidFill>
            <a:srgbClr val="1A2D7A"/>
          </a:solidFill>
          <a:ln/>
        </p:spPr>
      </p:sp>
      <p:sp>
        <p:nvSpPr>
          <p:cNvPr id="5" name="Text 3"/>
          <p:cNvSpPr/>
          <p:nvPr/>
        </p:nvSpPr>
        <p:spPr>
          <a:xfrm>
            <a:off x="1022390" y="2543294"/>
            <a:ext cx="3375541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Hidas yrityskäyttöönotto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1022390" y="3084076"/>
            <a:ext cx="6043374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Suuret organisaatiot voivat olla hitaita omaksumaan uusia järjestelmiä pitkien päätösprosessien vuoksi.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15804" y="4256127"/>
            <a:ext cx="102156" cy="102156"/>
          </a:xfrm>
          <a:prstGeom prst="roundRect">
            <a:avLst>
              <a:gd name="adj" fmla="val 447551"/>
            </a:avLst>
          </a:prstGeom>
          <a:solidFill>
            <a:srgbClr val="1A2D7A"/>
          </a:solidFill>
          <a:ln/>
        </p:spPr>
      </p:sp>
      <p:sp>
        <p:nvSpPr>
          <p:cNvPr id="8" name="Text 6"/>
          <p:cNvSpPr/>
          <p:nvPr/>
        </p:nvSpPr>
        <p:spPr>
          <a:xfrm>
            <a:off x="1022390" y="4147423"/>
            <a:ext cx="3062407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Vaihteleva datan laatu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022390" y="4688205"/>
            <a:ext cx="6043374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Legacy-järjestelmissä oleva data voi olla epäyhtenäistä tai puutteellista, mikä vaikuttaa integrointiin.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5804" y="5860256"/>
            <a:ext cx="102156" cy="102156"/>
          </a:xfrm>
          <a:prstGeom prst="roundRect">
            <a:avLst>
              <a:gd name="adj" fmla="val 447551"/>
            </a:avLst>
          </a:prstGeom>
          <a:solidFill>
            <a:srgbClr val="1A2D7A"/>
          </a:solidFill>
          <a:ln/>
        </p:spPr>
      </p:sp>
      <p:sp>
        <p:nvSpPr>
          <p:cNvPr id="11" name="Text 9"/>
          <p:cNvSpPr/>
          <p:nvPr/>
        </p:nvSpPr>
        <p:spPr>
          <a:xfrm>
            <a:off x="1022390" y="5751552"/>
            <a:ext cx="3963710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Nopeat sääntelyn muutokset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1022390" y="6292334"/>
            <a:ext cx="6043374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EU-säädökset kehittyvät jatkuvasti, vaatien jatkuvaa mukautumista ja päivityksiä.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7572256" y="1909524"/>
            <a:ext cx="3229570" cy="4037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500" dirty="0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Lieventäminen</a:t>
            </a:r>
            <a:endParaRPr lang="en-US" sz="2500" dirty="0"/>
          </a:p>
        </p:txBody>
      </p:sp>
      <p:sp>
        <p:nvSpPr>
          <p:cNvPr id="14" name="Shape 12"/>
          <p:cNvSpPr/>
          <p:nvPr/>
        </p:nvSpPr>
        <p:spPr>
          <a:xfrm>
            <a:off x="7572256" y="2651998"/>
            <a:ext cx="102156" cy="102156"/>
          </a:xfrm>
          <a:prstGeom prst="roundRect">
            <a:avLst>
              <a:gd name="adj" fmla="val 447551"/>
            </a:avLst>
          </a:prstGeom>
          <a:solidFill>
            <a:srgbClr val="1A2D7A"/>
          </a:solidFill>
          <a:ln/>
        </p:spPr>
      </p:sp>
      <p:sp>
        <p:nvSpPr>
          <p:cNvPr id="15" name="Text 13"/>
          <p:cNvSpPr/>
          <p:nvPr/>
        </p:nvSpPr>
        <p:spPr>
          <a:xfrm>
            <a:off x="7878842" y="2543294"/>
            <a:ext cx="4497705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Modulaarinen "land and expand"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7878842" y="3084076"/>
            <a:ext cx="6043374" cy="981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Aloitetaan pienemmillä moduuleilla ja laajennetaan vähitellen, mikä vähentää käyttöönoton riskiä ja nopeuttaa hyväksyntää.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7572256" y="4583311"/>
            <a:ext cx="102156" cy="102156"/>
          </a:xfrm>
          <a:prstGeom prst="roundRect">
            <a:avLst>
              <a:gd name="adj" fmla="val 447551"/>
            </a:avLst>
          </a:prstGeom>
          <a:solidFill>
            <a:srgbClr val="1A2D7A"/>
          </a:solidFill>
          <a:ln/>
        </p:spPr>
      </p:sp>
      <p:sp>
        <p:nvSpPr>
          <p:cNvPr id="18" name="Text 16"/>
          <p:cNvSpPr/>
          <p:nvPr/>
        </p:nvSpPr>
        <p:spPr>
          <a:xfrm>
            <a:off x="7878842" y="4474607"/>
            <a:ext cx="4061698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DWS IQ 6 datan normalisointi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7878842" y="5015389"/>
            <a:ext cx="6043374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Sisäänrakennettu puhdistus- ja normalisointikerros varmistaa yhtenäisen datan laadun kaikista lähteistä.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572256" y="6187440"/>
            <a:ext cx="102156" cy="102156"/>
          </a:xfrm>
          <a:prstGeom prst="roundRect">
            <a:avLst>
              <a:gd name="adj" fmla="val 447551"/>
            </a:avLst>
          </a:prstGeom>
          <a:solidFill>
            <a:srgbClr val="1A2D7A"/>
          </a:solidFill>
          <a:ln/>
        </p:spPr>
      </p:sp>
      <p:sp>
        <p:nvSpPr>
          <p:cNvPr id="21" name="Text 19"/>
          <p:cNvSpPr/>
          <p:nvPr/>
        </p:nvSpPr>
        <p:spPr>
          <a:xfrm>
            <a:off x="7878842" y="6078736"/>
            <a:ext cx="4251841" cy="3363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2100" dirty="0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Compliance-first -arkkitehtuuri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7878842" y="6619518"/>
            <a:ext cx="6043374" cy="654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50"/>
              </a:lnSpc>
              <a:buNone/>
            </a:pPr>
            <a:r>
              <a:rPr lang="en-US" sz="1600" dirty="0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Joustavat sääntömoottorit ja modulaarinen rakenne mahdollistavat nopean sopeutumisen uusiin vaatimuksiin.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2025-12-25T10:27:15Z</dcterms:created>
  <dcterms:modified xsi:type="dcterms:W3CDTF">2025-12-25T10:27:15Z</dcterms:modified>
</cp:coreProperties>
</file>