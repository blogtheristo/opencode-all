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5"/>
  </p:sldMasterIdLst>
  <p:notesMasterIdLst>
    <p:notesMasterId r:id="rId6"/>
  </p:notesMasterIdLst>
  <p:sldIdLst>
    <p:sldId id="256" r:id="rId7"/>
    <p:sldId id="257" r:id="rId8"/>
    <p:sldId id="259" r:id="rId10"/>
    <p:sldId id="260" r:id="rId11"/>
    <p:sldId id="262" r:id="rId13"/>
    <p:sldId id="263" r:id="rId14"/>
    <p:sldId id="264" r:id="rId15"/>
    <p:sldId id="265" r:id="rId16"/>
  </p:sldIdLst>
  <p:sldSz cy="6858000" cx="12191675"/>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C9134F9A-0CFC-4A10-847C-A3E75A45E6B3}">
  <a:tblStyle styleId="{C9134F9A-0CFC-4A10-847C-A3E75A45E6B3}" styleName="Table_0">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CF4"/>
          </a:solidFill>
        </a:fill>
      </a:tcStyle>
    </a:wholeTbl>
    <a:band1H>
      <a:tcTxStyle/>
      <a:tcStyle>
        <a:fill>
          <a:solidFill>
            <a:srgbClr val="CFD7E7"/>
          </a:solidFill>
        </a:fill>
      </a:tcStyle>
    </a:band1H>
    <a:band2H>
      <a:tcTxStyle/>
    </a:band2H>
    <a:band1V>
      <a:tcTxStyle/>
      <a:tcStyle>
        <a:fill>
          <a:solidFill>
            <a:srgbClr val="CFD7E7"/>
          </a:solidFill>
        </a:fill>
      </a:tcStyle>
    </a:band1V>
    <a:band2V>
      <a:tcTxStyle/>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10" Type="http://schemas.openxmlformats.org/officeDocument/2006/relationships/slide" Target="slides/slide4.xml"/><Relationship Id="rId11" Type="http://schemas.openxmlformats.org/officeDocument/2006/relationships/slide" Target="slides/slide5.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2" name="Google Shape;82;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Hyvää päivää ja kiitos ajastasi. Tämä on lyhyt tilannekatsaus tutkimussuunnastani ennen tohtorihakua: miten KYA-hallintakehyksestä erotettiin avoin spesifikaatio, ja miksi yksi tutkimuskysymys — RQ5 — vaatii nyt sinun arviotasi kahdessa muodossa. Tavoite tänään ei ole lopullinen hyväksyntä, vaan yksi lukema suunnasta ja yksi sovittu seuraava askel.</a:t>
            </a:r>
          </a:p>
        </p:txBody>
      </p:sp>
      <p:sp>
        <p:nvSpPr>
          <p:cNvPr id="83" name="Google Shape;83;p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4" name="Google Shape;94;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Kuusi kohtaa, noin viisitoista minuuttia. Aloitan taustasta, esittelen spesifikaation nykytilan, tuon RQ5:n pöytään kahtena avoimena vaihtoehtona, avaan ydinargumentin, rajaan tutkimuskohteen kaupallisesta IP:stä, ja päätän yhteen suoraan kysymykseen sekä ehdotettuun seuraavaan askeleeseen.</a:t>
            </a:r>
          </a:p>
        </p:txBody>
      </p:sp>
      <p:sp>
        <p:nvSpPr>
          <p:cNvPr id="95" name="Google Shape;95;p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p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4" name="Google Shape;124;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DWS IQ:n kehityksessä tuli toistuvasti vastaan sama kysymys: miten osoitamme, kuka agentti on, mitä se saa tehdä, mihin sen päätökset perustuvat, ja milloin ihminen voi pysäyttää sen. Tähän vastaamaan rakennettiin KYA. Sen ydinmekanismi on portitus — agentin valtuudet skaalautuvat automaattisesti sen ansaitseman luottamuspisteen mukaan, eivät ole kiinteä päällä/pois-oikeus. Kun huomasimme saman ongelman koskevan agenttijärjestelmiä laajemmin, erotimme spesifikaation kaupallisesta toteutuksesta — tämä erottelu on koko tämän esityksen ydin.</a:t>
            </a:r>
          </a:p>
        </p:txBody>
      </p:sp>
      <p:sp>
        <p:nvSpPr>
          <p:cNvPr id="125" name="Google Shape;125;p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p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4" name="Google Shape;134;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Tämä on tärkeä rehellisyyskohta. KYA Specification on luonnos, versio 0.3 — ei julkaistu, ei ulkopuolisia toteutuksia. Nimesin itse dokumentin uudelleen "standardista" "spesifikaatioksi", koska sana standardi on EU:n tekoälyasetuksessa juridisesti latautunut termi. Kirjasin neljä porttia, jotka pitäisi täyttyä ennen kuin sana standardi olisi ansaittu: kaksi riippumatonta toteutusta, konformanssitestistö jonka voi kaataa, elimen hyväksyntä tai aito omaksuminen, ja tekijästä riippumaton muutoshallinta. Tänään näistä on täyttynyt nolla neljästä. Juuri nämä portit ovat sen tutkimuskysymyksen ydin, jonka esittelen seuraavaksi.</a:t>
            </a:r>
          </a:p>
        </p:txBody>
      </p:sp>
      <p:sp>
        <p:nvSpPr>
          <p:cNvPr id="135" name="Google Shape;135;p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p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5" name="Google Shape;155;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Tässä on kokouksen ydin. Vaihtoehto A on se, minkä lähetin sinulle heinäkuussa — mutta ajoin sen omalla falsifiointitestilläni läpi, ja se kaatuu: korpus vastaa jo suunnittelupuoleen suoraan, joten kielteinen validointitulos olisi vain viivästys, ei tutkimuksellinen löydös. Vaihtoehto B on ehdotukseni tilalle — kysymys siitä, kestääkö klassinen spesifikaatio/standardi-erottelu, kun sertifioitava kohde itse muuttuu sertifioinnin jälkeen. Tämä on falsifioitava molempiin suuntiin, eikä kumpikaan vastaus riipu KYA:n kaupallisesta kohtalosta. Kysyn suoraan: onko B mielestäsi tutkimuksellisesti vahvempi vai heikompi kuin A?</a:t>
            </a:r>
          </a:p>
        </p:txBody>
      </p:sp>
      <p:sp>
        <p:nvSpPr>
          <p:cNvPr id="156" name="Google Shape;156;p7: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6" name="Google Shape;166;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Ydinargumentti tiivistettynä: konepultin standardi sertifioi artefaktin joka pysyy paikallaan. Agenttihallinnan standardi sertifioi käyttäytymistä, joka muuttuu koko ajan — malli päivittyy, agenttipopulaatio oppii, mandaatit vaihtuvat, ja lopulta arvioijastakin tulee liikkuva kohde arvioitavan rinnalla. Klassinen spesifikaatio/standardi-erottelu on rakennettu staattiselle kohteelle. Tämän lisäksi kielimallityökalut ovat muuttaneet talouden: spesifikaatio syntyy nyt tunneissa, mutta legitimointiprosessit — riippumaton toteutus, katselmointi, elinkäsittely — etenevät edelleen vuosissa. Tästä syntyy eriytymä, jota tutkimuskysymys tutkii.</a:t>
            </a:r>
          </a:p>
        </p:txBody>
      </p:sp>
      <p:sp>
        <p:nvSpPr>
          <p:cNvPr id="167" name="Google Shape;167;p8: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6" name="Google Shape;176;p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Tämä raja on tarkoituksellinen ja se on jo tehty päätöksenä yhtiön sisällä. Väitöstutkimus koskee avointa KYA-spesifikaatiota — kaavaa, credential-muotoja, porttisemantiikkaa. Kaikki suljettu, kaupallinen puoli — telemetriaputki, World Model, agenttifleet, Control Room — jää tutkimuksen ulkopuolelle. DWS IQ ja käynnissä olevat yhteydet, kuten KTH/TECoSA, ovat validointiympäristö ja aineistolähde, eivät tutkimuskysymys itse. Tämä on myös tutkimuksen turvaverkko: väitöskirja ei kaadu siihen, saavuttaako KYA koskaan standardiasemaa tai miten yhtiön kaupallistaminen etenee.</a:t>
            </a:r>
          </a:p>
        </p:txBody>
      </p:sp>
      <p:sp>
        <p:nvSpPr>
          <p:cNvPr id="177" name="Google Shape;177;p9: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1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6" name="Google Shape;186;p1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Kaksi asiaa, jotka pyydän sinulta tänään. Ensinnäkin arviosi: onko uudelleenmuotoiltu kysymys B tutkimuksellisesti vahvempi vai heikompi kuin alkuperäinen A? Jos A on parempi, pidän sen — tämä ei ole valmiiksi päätetty asia. Toiseksi ehdotan konkreettista seuraavaa askelta: kirjoitan kahdessa viikossa yhden sivun tarkennetun tutkimussuunnitelman valitun muotoilun ympärille ja lähetän sen sinulle, minkä jälkeen käynnistän LUT:n tohtoriohjelman muodollisen hakuprosessin. En hae tänään lopullista hyväksyntää — vain yhden ulkoisen lukeman suunnasta ja yhden sovitun seuraavan askeleen. Kiitos ajastasi.</a:t>
            </a:r>
          </a:p>
        </p:txBody>
      </p:sp>
      <p:sp>
        <p:nvSpPr>
          <p:cNvPr id="187" name="Google Shape;187;p10: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p:nvPr>
            <p:ph idx="2" type="pic"/>
          </p:nvPr>
        </p:nvSpPr>
        <p:spPr>
          <a:xfrm>
            <a:off x="1792288" y="612775"/>
            <a:ext cx="5486400" cy="4114800"/>
          </a:xfrm>
          <a:prstGeom prst="rect">
            <a:avLst/>
          </a:prstGeom>
          <a:noFill/>
          <a:ln>
            <a:noFill/>
          </a:ln>
        </p:spPr>
      </p:sp>
      <p:sp>
        <p:nvSpPr>
          <p:cNvPr id="64" name="Google Shape;64;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9.png"/><Relationship Id="rId5"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9.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9.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9.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9.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9.pn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9.pn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9.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84" name="Shape 84"/>
        <p:cNvGrpSpPr/>
        <p:nvPr/>
      </p:nvGrpSpPr>
      <p:grpSpPr>
        <a:xfrm>
          <a:off x="0" y="0"/>
          <a:ext cx="0" cy="0"/>
          <a:chOff x="0" y="0"/>
          <a:chExt cx="0" cy="0"/>
        </a:xfrm>
      </p:grpSpPr>
      <p:sp>
        <p:nvSpPr>
          <p:cNvPr id="85" name="Google Shape;85;p13"/>
          <p:cNvSpPr/>
          <p:nvPr/>
        </p:nvSpPr>
        <p:spPr>
          <a:xfrm>
            <a:off x="0" y="0"/>
            <a:ext cx="12192000" cy="114300"/>
          </a:xfrm>
          <a:prstGeom prst="rect">
            <a:avLst/>
          </a:prstGeom>
          <a:solidFill>
            <a:srgbClr val="C0392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86" name="Google Shape;86;p13"/>
          <p:cNvPicPr preferRelativeResize="0"/>
          <p:nvPr/>
        </p:nvPicPr>
        <p:blipFill rotWithShape="1">
          <a:blip r:embed="rId4">
            <a:alphaModFix/>
          </a:blip>
          <a:srcRect b="0" l="0" r="0" t="0"/>
          <a:stretch/>
        </p:blipFill>
        <p:spPr>
          <a:xfrm>
            <a:off x="571500" y="381000"/>
            <a:ext cx="762000" cy="762000"/>
          </a:xfrm>
          <a:prstGeom prst="rect">
            <a:avLst/>
          </a:prstGeom>
          <a:noFill/>
          <a:ln>
            <a:noFill/>
          </a:ln>
        </p:spPr>
      </p:pic>
      <p:pic>
        <p:nvPicPr>
          <p:cNvPr id="87" name="Google Shape;87;p13"/>
          <p:cNvPicPr preferRelativeResize="0"/>
          <p:nvPr/>
        </p:nvPicPr>
        <p:blipFill rotWithShape="1">
          <a:blip r:embed="rId5">
            <a:alphaModFix/>
          </a:blip>
          <a:srcRect b="209" l="0" r="0" t="219"/>
          <a:stretch/>
        </p:blipFill>
        <p:spPr>
          <a:xfrm>
            <a:off x="10858500" y="381000"/>
            <a:ext cx="762000" cy="904800"/>
          </a:xfrm>
          <a:prstGeom prst="rect">
            <a:avLst/>
          </a:prstGeom>
          <a:noFill/>
          <a:ln>
            <a:noFill/>
          </a:ln>
        </p:spPr>
      </p:pic>
      <p:sp>
        <p:nvSpPr>
          <p:cNvPr id="88" name="Google Shape;88;p13"/>
          <p:cNvSpPr txBox="1"/>
          <p:nvPr/>
        </p:nvSpPr>
        <p:spPr>
          <a:xfrm>
            <a:off x="1333500" y="1714500"/>
            <a:ext cx="9525000" cy="1413000"/>
          </a:xfrm>
          <a:prstGeom prst="rect">
            <a:avLst/>
          </a:prstGeom>
          <a:solidFill>
            <a:srgbClr val="000000">
              <a:alpha val="0"/>
            </a:srgbClr>
          </a:solidFill>
          <a:ln>
            <a:noFill/>
          </a:ln>
        </p:spPr>
        <p:txBody>
          <a:bodyPr anchorCtr="0" anchor="ctr" bIns="0" lIns="0" spcFirstLastPara="1" rIns="0" wrap="square" tIns="0">
            <a:spAutoFit/>
          </a:bodyPr>
          <a:lstStyle/>
          <a:p>
            <a:pPr indent="0" lvl="0" marL="0" rtl="0" algn="ctr">
              <a:spcBef>
                <a:spcPts val="0"/>
              </a:spcBef>
              <a:spcAft>
                <a:spcPts val="0"/>
              </a:spcAft>
              <a:buNone/>
            </a:pPr>
            <a:r>
              <a:rPr b="1" lang="en-US" sz="4590">
                <a:solidFill>
                  <a:srgbClr val="C0392B"/>
                </a:solidFill>
                <a:latin typeface="Calibri"/>
                <a:ea typeface="Calibri"/>
                <a:cs typeface="Calibri"/>
                <a:sym typeface="Calibri"/>
              </a:rPr>
              <a:t>Tutkimussuunnan tarkennus — RQ5</a:t>
            </a:r>
            <a:endParaRPr b="1" sz="4590">
              <a:solidFill>
                <a:srgbClr val="C0392B"/>
              </a:solidFill>
              <a:latin typeface="Calibri"/>
              <a:ea typeface="Calibri"/>
              <a:cs typeface="Calibri"/>
              <a:sym typeface="Calibri"/>
            </a:endParaRPr>
          </a:p>
        </p:txBody>
      </p:sp>
      <p:sp>
        <p:nvSpPr>
          <p:cNvPr id="89" name="Google Shape;89;p13"/>
          <p:cNvSpPr/>
          <p:nvPr/>
        </p:nvSpPr>
        <p:spPr>
          <a:xfrm>
            <a:off x="3048000" y="3238500"/>
            <a:ext cx="6096000" cy="19200"/>
          </a:xfrm>
          <a:prstGeom prst="rect">
            <a:avLst/>
          </a:prstGeom>
          <a:solidFill>
            <a:srgbClr val="2C3E50">
              <a:alpha val="3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0" name="Google Shape;90;p13"/>
          <p:cNvSpPr txBox="1"/>
          <p:nvPr/>
        </p:nvSpPr>
        <p:spPr>
          <a:xfrm>
            <a:off x="1333500" y="3429000"/>
            <a:ext cx="9525000" cy="18318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ctr">
              <a:spcBef>
                <a:spcPts val="0"/>
              </a:spcBef>
              <a:spcAft>
                <a:spcPts val="600"/>
              </a:spcAft>
              <a:buNone/>
            </a:pPr>
            <a:r>
              <a:rPr sz="1600" b="1">
                <a:solidFill>
                  <a:srgbClr val="2C3E50"/>
                </a:solidFill>
                <a:latin typeface="Calibri"/>
              </a:rPr>
              <a:t>KYA: avoimesta spesifikaatiosta tutkimuskysymykseksi</a:t>
            </a:r>
            <a:endParaRPr b="1" i="1" sz="2200">
              <a:solidFill>
                <a:srgbClr val="2C3E50"/>
              </a:solidFill>
              <a:latin typeface="Calibri"/>
              <a:ea typeface="Calibri"/>
              <a:cs typeface="Calibri"/>
              <a:sym typeface="Calibri"/>
            </a:endParaRPr>
          </a:p>
          <a:p>
            <a:pPr>
              <a:spcAft>
                <a:spcPts val="600"/>
              </a:spcAft>
            </a:pPr>
            <a:r>
              <a:rPr sz="1400" b="1">
                <a:solidFill>
                  <a:srgbClr val="2C3E50"/>
                </a:solidFill>
                <a:latin typeface="Calibri"/>
              </a:rPr>
              <a:t>Risto Anton Päärni · Lifetime Oy</a:t>
            </a:r>
          </a:p>
          <a:p>
            <a:pPr>
              <a:spcAft>
                <a:spcPts val="600"/>
              </a:spcAft>
            </a:pPr>
            <a:r>
              <a:rPr sz="1300" b="0">
                <a:solidFill>
                  <a:srgbClr val="2C3E50"/>
                </a:solidFill>
                <a:latin typeface="Calibri"/>
              </a:rPr>
              <a:t>LUT · prof. Kari Smolander</a:t>
            </a:r>
          </a:p>
          <a:p>
            <a:pPr>
              <a:spcAft>
                <a:spcPts val="600"/>
              </a:spcAft>
            </a:pPr>
            <a:r>
              <a:rPr sz="1100" b="0">
                <a:solidFill>
                  <a:srgbClr val="7F8C8D"/>
                </a:solidFill>
                <a:latin typeface="Calibri"/>
              </a:rPr>
              <a:t>4.8.2026</a:t>
            </a:r>
          </a:p>
        </p:txBody>
      </p:sp>
      <p:sp>
        <p:nvSpPr>
          <p:cNvPr id="91" name="Google Shape;91;p13"/>
          <p:cNvSpPr txBox="1"/>
          <p:nvPr/>
        </p:nvSpPr>
        <p:spPr>
          <a:xfrm>
            <a:off x="0" y="6477000"/>
            <a:ext cx="12192000" cy="153900"/>
          </a:xfrm>
          <a:prstGeom prst="rect">
            <a:avLst/>
          </a:prstGeom>
          <a:solidFill>
            <a:srgbClr val="000000">
              <a:alpha val="0"/>
            </a:srgbClr>
          </a:solidFill>
          <a:ln>
            <a:noFill/>
          </a:ln>
        </p:spPr>
        <p:txBody>
          <a:bodyPr anchorCtr="0" anchor="ctr" bIns="0" lIns="0" spcFirstLastPara="1" rIns="0" wrap="square" tIns="0">
            <a:spAutoFit/>
          </a:bodyPr>
          <a:lstStyle/>
          <a:p>
            <a:pPr indent="0" lvl="0" marL="0" rtl="0" algn="ctr">
              <a:spcBef>
                <a:spcPts val="0"/>
              </a:spcBef>
              <a:spcAft>
                <a:spcPts val="0"/>
              </a:spcAft>
              <a:buNone/>
            </a:pPr>
            <a:r>
              <a:rPr lang="en-US" sz="1000">
                <a:solidFill>
                  <a:srgbClr val="95A5A6"/>
                </a:solidFill>
                <a:latin typeface="Calibri"/>
                <a:ea typeface="Calibri"/>
                <a:cs typeface="Calibri"/>
                <a:sym typeface="Calibri"/>
              </a:rPr>
              <a:t>Copyright Risto Anton Päärni. All Rights Reserved.</a:t>
            </a:r>
            <a:endParaRPr sz="1000">
              <a:solidFill>
                <a:srgbClr val="95A5A6"/>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14"/>
          <p:cNvSpPr/>
          <p:nvPr/>
        </p:nvSpPr>
        <p:spPr>
          <a:xfrm>
            <a:off x="0" y="0"/>
            <a:ext cx="12192000" cy="114300"/>
          </a:xfrm>
          <a:prstGeom prst="rect">
            <a:avLst/>
          </a:prstGeom>
          <a:solidFill>
            <a:srgbClr val="C0392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8" name="Google Shape;98;p14"/>
          <p:cNvSpPr txBox="1"/>
          <p:nvPr/>
        </p:nvSpPr>
        <p:spPr>
          <a:xfrm>
            <a:off x="914400" y="428625"/>
            <a:ext cx="10362900" cy="492600"/>
          </a:xfrm>
          <a:prstGeom prst="rect">
            <a:avLst/>
          </a:prstGeom>
          <a:solidFill>
            <a:srgbClr val="000000">
              <a:alpha val="0"/>
            </a:srgbClr>
          </a:solidFill>
          <a:ln>
            <a:noFill/>
          </a:ln>
        </p:spPr>
        <p:txBody>
          <a:bodyPr anchorCtr="0" anchor="ctr" bIns="0" lIns="0" spcFirstLastPara="1" rIns="0" wrap="square" tIns="0">
            <a:spAutoFit/>
          </a:bodyPr>
          <a:lstStyle/>
          <a:p>
            <a:pPr indent="0" lvl="0" marL="0" rtl="0" algn="ctr">
              <a:spcBef>
                <a:spcPts val="0"/>
              </a:spcBef>
              <a:spcAft>
                <a:spcPts val="0"/>
              </a:spcAft>
              <a:buNone/>
            </a:pPr>
            <a:r>
              <a:rPr b="1" lang="en-US" sz="3200">
                <a:solidFill>
                  <a:srgbClr val="C0392B"/>
                </a:solidFill>
                <a:latin typeface="Calibri"/>
                <a:ea typeface="Calibri"/>
                <a:cs typeface="Calibri"/>
                <a:sym typeface="Calibri"/>
              </a:rPr>
              <a:t>Esityksen rakenne</a:t>
            </a:r>
            <a:endParaRPr b="1" sz="3200">
              <a:solidFill>
                <a:srgbClr val="C0392B"/>
              </a:solidFill>
              <a:latin typeface="Calibri"/>
              <a:ea typeface="Calibri"/>
              <a:cs typeface="Calibri"/>
              <a:sym typeface="Calibri"/>
            </a:endParaRPr>
          </a:p>
        </p:txBody>
      </p:sp>
      <p:sp>
        <p:nvSpPr>
          <p:cNvPr id="99" name="Google Shape;99;p14"/>
          <p:cNvSpPr txBox="1"/>
          <p:nvPr/>
        </p:nvSpPr>
        <p:spPr>
          <a:xfrm>
            <a:off x="1333500" y="1238250"/>
            <a:ext cx="9525000" cy="4910100"/>
          </a:xfrm>
          <a:prstGeom prst="rect">
            <a:avLst/>
          </a:prstGeom>
          <a:solidFill>
            <a:srgbClr val="000000">
              <a:alpha val="0"/>
            </a:srgbClr>
          </a:solidFill>
          <a:ln>
            <a:noFill/>
          </a:ln>
        </p:spPr>
        <p:txBody>
          <a:bodyPr anchorCtr="0" anchor="ctr" bIns="0" lIns="0" spcFirstLastPara="1" rIns="0" wrap="square" tIns="0">
            <a:spAutoFit/>
          </a:bodyPr>
          <a:lstStyle/>
          <a:p>
            <a:pPr indent="0" lvl="0" marL="0" rtl="0" algn="l">
              <a:spcBef>
                <a:spcPts val="0"/>
              </a:spcBef>
              <a:spcAft>
                <a:spcPts val="600"/>
              </a:spcAft>
              <a:buNone/>
            </a:pPr>
            <a:r>
              <a:rPr sz="1300" b="0">
                <a:solidFill>
                  <a:srgbClr val="2C3E50"/>
                </a:solidFill>
                <a:latin typeface="Calibri"/>
              </a:rPr>
              <a:t>•  Tähän on tultu — DWS IQ:sta KYA:han</a:t>
            </a:r>
            <a:endParaRPr b="0" sz="1300">
              <a:solidFill>
                <a:srgbClr val="2C3E50"/>
              </a:solidFill>
              <a:latin typeface="Calibri"/>
              <a:ea typeface="Calibri"/>
              <a:cs typeface="Calibri"/>
              <a:sym typeface="Calibri"/>
            </a:endParaRPr>
          </a:p>
          <a:p>
            <a:pPr>
              <a:spcAft>
                <a:spcPts val="600"/>
              </a:spcAft>
            </a:pPr>
            <a:r>
              <a:rPr sz="1300" b="0">
                <a:solidFill>
                  <a:srgbClr val="2C3E50"/>
                </a:solidFill>
                <a:latin typeface="Calibri"/>
              </a:rPr>
              <a:t>•  KYA Specification v1.5 — nykytila</a:t>
            </a:r>
          </a:p>
          <a:p>
            <a:pPr>
              <a:spcAft>
                <a:spcPts val="600"/>
              </a:spcAft>
            </a:pPr>
            <a:r>
              <a:rPr sz="1300" b="0">
                <a:solidFill>
                  <a:srgbClr val="2C3E50"/>
                </a:solidFill>
                <a:latin typeface="Calibri"/>
              </a:rPr>
              <a:t>•  RQ5 — kaksi avointa vaihtoehtoa</a:t>
            </a:r>
          </a:p>
          <a:p>
            <a:pPr>
              <a:spcAft>
                <a:spcPts val="600"/>
              </a:spcAft>
            </a:pPr>
            <a:r>
              <a:rPr sz="1300" b="0">
                <a:solidFill>
                  <a:srgbClr val="2C3E50"/>
                </a:solidFill>
                <a:latin typeface="Calibri"/>
              </a:rPr>
              <a:t>•  Ydinargumentti — muuttuva sertifiointikohde</a:t>
            </a:r>
          </a:p>
          <a:p>
            <a:pPr>
              <a:spcAft>
                <a:spcPts val="600"/>
              </a:spcAft>
            </a:pPr>
            <a:r>
              <a:rPr sz="1300" b="0">
                <a:solidFill>
                  <a:srgbClr val="2C3E50"/>
                </a:solidFill>
                <a:latin typeface="Calibri"/>
              </a:rPr>
              <a:t>•  Rajaus — tutkimuskohde vs. kaupallinen IP</a:t>
            </a:r>
          </a:p>
          <a:p>
            <a:pPr>
              <a:spcAft>
                <a:spcPts val="600"/>
              </a:spcAft>
            </a:pPr>
            <a:r>
              <a:rPr sz="1300" b="0">
                <a:solidFill>
                  <a:srgbClr val="2C3E50"/>
                </a:solidFill>
                <a:latin typeface="Calibri"/>
              </a:rPr>
              <a:t>•  Kysymys ja ehdotettu seuraava askel</a:t>
            </a:r>
          </a:p>
        </p:txBody>
      </p:sp>
      <p:pic>
        <p:nvPicPr>
          <p:cNvPr id="100" name="Google Shape;100;p14"/>
          <p:cNvPicPr preferRelativeResize="0"/>
          <p:nvPr/>
        </p:nvPicPr>
        <p:blipFill rotWithShape="1">
          <a:blip r:embed="rId3">
            <a:alphaModFix/>
          </a:blip>
          <a:srcRect b="0" l="0" r="0" t="0"/>
          <a:stretch/>
        </p:blipFill>
        <p:spPr>
          <a:xfrm>
            <a:off x="571500" y="381000"/>
            <a:ext cx="666900" cy="666900"/>
          </a:xfrm>
          <a:prstGeom prst="rect">
            <a:avLst/>
          </a:prstGeom>
          <a:noFill/>
          <a:ln>
            <a:noFill/>
          </a:ln>
        </p:spPr>
      </p:pic>
      <p:pic>
        <p:nvPicPr>
          <p:cNvPr id="101" name="Google Shape;101;p14"/>
          <p:cNvPicPr preferRelativeResize="0"/>
          <p:nvPr/>
        </p:nvPicPr>
        <p:blipFill rotWithShape="1">
          <a:blip r:embed="rId4">
            <a:alphaModFix/>
          </a:blip>
          <a:srcRect b="8083" l="0" r="0" t="8074"/>
          <a:stretch/>
        </p:blipFill>
        <p:spPr>
          <a:xfrm>
            <a:off x="10953750" y="381000"/>
            <a:ext cx="666900" cy="666900"/>
          </a:xfrm>
          <a:prstGeom prst="rect">
            <a:avLst/>
          </a:prstGeom>
          <a:noFill/>
          <a:ln>
            <a:noFill/>
          </a:ln>
        </p:spPr>
      </p:pic>
      <p:sp>
        <p:nvSpPr>
          <p:cNvPr id="102" name="Google Shape;102;p14"/>
          <p:cNvSpPr txBox="1"/>
          <p:nvPr/>
        </p:nvSpPr>
        <p:spPr>
          <a:xfrm>
            <a:off x="0" y="6524625"/>
            <a:ext cx="12192000" cy="138600"/>
          </a:xfrm>
          <a:prstGeom prst="rect">
            <a:avLst/>
          </a:prstGeom>
          <a:solidFill>
            <a:srgbClr val="000000">
              <a:alpha val="0"/>
            </a:srgbClr>
          </a:solidFill>
          <a:ln>
            <a:noFill/>
          </a:ln>
        </p:spPr>
        <p:txBody>
          <a:bodyPr anchorCtr="0" anchor="ctr" bIns="0" lIns="0" spcFirstLastPara="1" rIns="0" wrap="square" tIns="0">
            <a:spAutoFit/>
          </a:bodyPr>
          <a:lstStyle/>
          <a:p>
            <a:pPr indent="0" lvl="0" marL="0" rtl="0" algn="ctr">
              <a:spcBef>
                <a:spcPts val="0"/>
              </a:spcBef>
              <a:spcAft>
                <a:spcPts val="0"/>
              </a:spcAft>
              <a:buNone/>
            </a:pPr>
            <a:r>
              <a:rPr lang="en-US" sz="900">
                <a:solidFill>
                  <a:srgbClr val="95A5A6"/>
                </a:solidFill>
                <a:latin typeface="Calibri"/>
                <a:ea typeface="Calibri"/>
                <a:cs typeface="Calibri"/>
                <a:sym typeface="Calibri"/>
              </a:rPr>
              <a:t>Copyright Risto Anton Päärni. All Rights Reserved.</a:t>
            </a:r>
            <a:endParaRPr sz="900">
              <a:solidFill>
                <a:srgbClr val="95A5A6"/>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16"/>
          <p:cNvSpPr txBox="1"/>
          <p:nvPr/>
        </p:nvSpPr>
        <p:spPr>
          <a:xfrm>
            <a:off x="914400" y="292608"/>
            <a:ext cx="10362895" cy="82296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2800" u="none" cap="none" strike="noStrike">
                <a:solidFill>
                  <a:srgbClr val="C0392B"/>
                </a:solidFill>
                <a:latin typeface="Calibri"/>
                <a:ea typeface="Calibri"/>
                <a:cs typeface="Calibri"/>
                <a:sym typeface="Calibri"/>
              </a:rPr>
              <a:t>1. Tähän on tultu</a:t>
            </a:r>
            <a:endParaRPr/>
          </a:p>
        </p:txBody>
      </p:sp>
      <p:sp>
        <p:nvSpPr>
          <p:cNvPr id="128" name="Google Shape;128;p16"/>
          <p:cNvSpPr txBox="1"/>
          <p:nvPr/>
        </p:nvSpPr>
        <p:spPr>
          <a:xfrm>
            <a:off x="640080" y="1280160"/>
            <a:ext cx="10911535" cy="4846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600"/>
              </a:spcAft>
              <a:buNone/>
            </a:pPr>
            <a:r>
              <a:rPr sz="1400" b="1">
                <a:solidFill>
                  <a:srgbClr val="2C3E50"/>
                </a:solidFill>
                <a:latin typeface="Calibri"/>
              </a:rPr>
              <a:t>DWS IQ:n kehityksessä toistui sama ongelma:</a:t>
            </a:r>
            <a:endParaRPr/>
          </a:p>
          <a:p>
            <a:pPr>
              <a:spcAft>
                <a:spcPts val="600"/>
              </a:spcAft>
            </a:pPr>
            <a:r>
              <a:rPr sz="1300" b="0">
                <a:solidFill>
                  <a:srgbClr val="2C3E50"/>
                </a:solidFill>
                <a:latin typeface="Calibri"/>
              </a:rPr>
              <a:t>agentin on osoitettava identiteettinsä, toimivaltansa, päätöstensä lähteet — ja se, milloin ihminen voi pysäyttää toiminnan.</a:t>
            </a:r>
          </a:p>
          <a:p>
            <a:pPr>
              <a:spcAft>
                <a:spcPts val="600"/>
              </a:spcAft>
            </a:pPr>
            <a:r>
              <a:rPr sz="1300" b="0">
                <a:solidFill>
                  <a:srgbClr val="2C3E50"/>
                </a:solidFill>
                <a:latin typeface="Calibri"/>
              </a:rPr>
              <a:t>•  Ratkaisuksi muodostui KYA (Know Your Agent) — governance- ja evidenssikerros</a:t>
            </a:r>
          </a:p>
          <a:p>
            <a:pPr>
              <a:spcAft>
                <a:spcPts val="600"/>
              </a:spcAft>
            </a:pPr>
            <a:r>
              <a:rPr sz="1300" b="0">
                <a:solidFill>
                  <a:srgbClr val="2C3E50"/>
                </a:solidFill>
                <a:latin typeface="Calibri"/>
              </a:rPr>
              <a:t>•  Ytimessä portitus: valtuudet on sidottu ansaittuun luottamuspisteeseen (ATS)</a:t>
            </a:r>
          </a:p>
          <a:p>
            <a:pPr>
              <a:spcAft>
                <a:spcPts val="600"/>
              </a:spcAft>
            </a:pPr>
            <a:r>
              <a:rPr sz="1300" b="0">
                <a:solidFill>
                  <a:srgbClr val="2C3E50"/>
                </a:solidFill>
                <a:latin typeface="Calibri"/>
              </a:rPr>
              <a:t>•  Valtuus ei ole binäärinen tila, vaan jatkuvasti ansaittava ja menetettävä asema</a:t>
            </a:r>
          </a:p>
          <a:p>
            <a:pPr>
              <a:spcAft>
                <a:spcPts val="600"/>
              </a:spcAft>
            </a:pPr>
            <a:r>
              <a:rPr sz="1300" b="0">
                <a:solidFill>
                  <a:srgbClr val="2C3E50"/>
                </a:solidFill>
                <a:latin typeface="Calibri"/>
              </a:rPr>
              <a:t>•  Avoin spesifikaatiokerros (Apache 2.0) erotettu suljetusta kaupallisesta IP:stä</a:t>
            </a:r>
          </a:p>
        </p:txBody>
      </p:sp>
      <p:pic>
        <p:nvPicPr>
          <p:cNvPr descr="firehorse-aegis-logo.png" id="129" name="Google Shape;129;p16"/>
          <p:cNvPicPr preferRelativeResize="0"/>
          <p:nvPr/>
        </p:nvPicPr>
        <p:blipFill rotWithShape="1">
          <a:blip r:embed="rId3">
            <a:alphaModFix/>
          </a:blip>
          <a:srcRect b="0" l="0" r="0" t="0"/>
          <a:stretch/>
        </p:blipFill>
        <p:spPr>
          <a:xfrm>
            <a:off x="228600" y="164592"/>
            <a:ext cx="502920" cy="502920"/>
          </a:xfrm>
          <a:prstGeom prst="rect">
            <a:avLst/>
          </a:prstGeom>
          <a:noFill/>
          <a:ln>
            <a:noFill/>
          </a:ln>
        </p:spPr>
      </p:pic>
      <p:pic>
        <p:nvPicPr>
          <p:cNvPr descr="Lifetime_Group-logo_22.png" id="130" name="Google Shape;130;p16"/>
          <p:cNvPicPr preferRelativeResize="0"/>
          <p:nvPr/>
        </p:nvPicPr>
        <p:blipFill rotWithShape="1">
          <a:blip r:embed="rId4">
            <a:alphaModFix/>
          </a:blip>
          <a:srcRect b="0" l="0" r="0" t="0"/>
          <a:stretch/>
        </p:blipFill>
        <p:spPr>
          <a:xfrm>
            <a:off x="11505895" y="164592"/>
            <a:ext cx="421679" cy="502920"/>
          </a:xfrm>
          <a:prstGeom prst="rect">
            <a:avLst/>
          </a:prstGeom>
          <a:noFill/>
          <a:ln>
            <a:noFill/>
          </a:ln>
        </p:spPr>
      </p:pic>
      <p:sp>
        <p:nvSpPr>
          <p:cNvPr id="131" name="Google Shape;131;p16"/>
          <p:cNvSpPr txBox="1"/>
          <p:nvPr/>
        </p:nvSpPr>
        <p:spPr>
          <a:xfrm>
            <a:off x="274320" y="6473952"/>
            <a:ext cx="11643055" cy="2743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900" u="none" cap="none" strike="noStrike">
                <a:solidFill>
                  <a:srgbClr val="8A8F98"/>
                </a:solidFill>
                <a:latin typeface="Calibri"/>
                <a:ea typeface="Calibri"/>
                <a:cs typeface="Calibri"/>
                <a:sym typeface="Calibri"/>
              </a:rPr>
              <a:t>Copyright Risto Anton Päärni. All Rights Reserved.</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17"/>
          <p:cNvSpPr txBox="1"/>
          <p:nvPr/>
        </p:nvSpPr>
        <p:spPr>
          <a:xfrm>
            <a:off x="914400" y="292608"/>
            <a:ext cx="10362895" cy="82296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2800" u="none" cap="none" strike="noStrike">
                <a:solidFill>
                  <a:srgbClr val="C0392B"/>
                </a:solidFill>
                <a:latin typeface="Calibri"/>
                <a:ea typeface="Calibri"/>
                <a:cs typeface="Calibri"/>
                <a:sym typeface="Calibri"/>
              </a:rPr>
              <a:t>2. KYA Specification v1.5 — nykytila</a:t>
            </a:r>
            <a:endParaRPr/>
          </a:p>
        </p:txBody>
      </p:sp>
      <p:sp>
        <p:nvSpPr>
          <p:cNvPr id="139" name="Google Shape;139;p17"/>
          <p:cNvSpPr txBox="1"/>
          <p:nvPr/>
        </p:nvSpPr>
        <p:spPr>
          <a:xfrm>
            <a:off x="640080" y="1280160"/>
            <a:ext cx="10911535" cy="4846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600"/>
              </a:spcAft>
              <a:buNone/>
            </a:pPr>
            <a:r>
              <a:rPr sz="1500" b="1">
                <a:solidFill>
                  <a:srgbClr val="C0392B"/>
                </a:solidFill>
                <a:latin typeface="Calibri"/>
              </a:rPr>
              <a:t>Spesifikaatio, ei standardi — dokumentti toteaa sen itse (§0.6)</a:t>
            </a:r>
            <a:endParaRPr/>
          </a:p>
          <a:p>
            <a:pPr>
              <a:spcAft>
                <a:spcPts val="600"/>
              </a:spcAft>
            </a:pPr>
            <a:r>
              <a:rPr sz="1300" b="0">
                <a:solidFill>
                  <a:srgbClr val="2C3E50"/>
                </a:solidFill>
                <a:latin typeface="Calibri"/>
              </a:rPr>
              <a:t>•  Luonnos v0.3, ei vielä julkaistu · ei toteutuksia Lifetime Oy:n ulkopuolella</a:t>
            </a:r>
          </a:p>
          <a:p>
            <a:pPr>
              <a:spcAft>
                <a:spcPts val="600"/>
              </a:spcAft>
            </a:pPr>
            <a:r>
              <a:rPr sz="1400" b="1">
                <a:solidFill>
                  <a:srgbClr val="2C3E50"/>
                </a:solidFill>
                <a:latin typeface="Calibri"/>
              </a:rPr>
              <a:t>Neljä porttia, jotka ansaitsisivat sanan "standardi":</a:t>
            </a:r>
          </a:p>
          <a:p>
            <a:pPr>
              <a:spcAft>
                <a:spcPts val="600"/>
              </a:spcAft>
            </a:pPr>
            <a:r>
              <a:rPr sz="1300" b="0">
                <a:solidFill>
                  <a:srgbClr val="2C3E50"/>
                </a:solidFill>
                <a:latin typeface="Calibri"/>
              </a:rPr>
              <a:t>1)  kaksi riippumatonta toteutusta</a:t>
            </a:r>
          </a:p>
          <a:p>
            <a:pPr>
              <a:spcAft>
                <a:spcPts val="600"/>
              </a:spcAft>
            </a:pPr>
            <a:r>
              <a:rPr sz="1300" b="0">
                <a:solidFill>
                  <a:srgbClr val="2C3E50"/>
                </a:solidFill>
                <a:latin typeface="Calibri"/>
              </a:rPr>
              <a:t>2)  konformanssitestistö, jossa toteutus voi myös epäonnistua</a:t>
            </a:r>
          </a:p>
          <a:p>
            <a:pPr>
              <a:spcAft>
                <a:spcPts val="600"/>
              </a:spcAft>
            </a:pPr>
            <a:r>
              <a:rPr sz="1300" b="0">
                <a:solidFill>
                  <a:srgbClr val="2C3E50"/>
                </a:solidFill>
                <a:latin typeface="Calibri"/>
              </a:rPr>
              <a:t>3)  elimen hyväksyntä tai aito monen osapuolen omaksuminen</a:t>
            </a:r>
          </a:p>
          <a:p>
            <a:pPr>
              <a:spcAft>
                <a:spcPts val="600"/>
              </a:spcAft>
            </a:pPr>
            <a:r>
              <a:rPr sz="1300" b="0">
                <a:solidFill>
                  <a:srgbClr val="2C3E50"/>
                </a:solidFill>
                <a:latin typeface="Calibri"/>
              </a:rPr>
              <a:t>4)  muutoshallinta, joka ei riipu Lifetime Oy:stä</a:t>
            </a:r>
          </a:p>
          <a:p>
            <a:pPr>
              <a:spcAft>
                <a:spcPts val="600"/>
              </a:spcAft>
            </a:pPr>
            <a:r>
              <a:rPr sz="1400" b="1">
                <a:solidFill>
                  <a:srgbClr val="C0392B"/>
                </a:solidFill>
                <a:latin typeface="Calibri"/>
              </a:rPr>
              <a:t>Tänään: 0/4 — portit ovat RQ5 v3:n tutkittava kriteeri</a:t>
            </a:r>
          </a:p>
        </p:txBody>
      </p:sp>
      <p:pic>
        <p:nvPicPr>
          <p:cNvPr descr="firehorse-aegis-logo.png" id="140" name="Google Shape;140;p17"/>
          <p:cNvPicPr preferRelativeResize="0"/>
          <p:nvPr/>
        </p:nvPicPr>
        <p:blipFill rotWithShape="1">
          <a:blip r:embed="rId3">
            <a:alphaModFix/>
          </a:blip>
          <a:srcRect b="0" l="0" r="0" t="0"/>
          <a:stretch/>
        </p:blipFill>
        <p:spPr>
          <a:xfrm>
            <a:off x="228600" y="164592"/>
            <a:ext cx="502920" cy="502920"/>
          </a:xfrm>
          <a:prstGeom prst="rect">
            <a:avLst/>
          </a:prstGeom>
          <a:noFill/>
          <a:ln>
            <a:noFill/>
          </a:ln>
        </p:spPr>
      </p:pic>
      <p:pic>
        <p:nvPicPr>
          <p:cNvPr descr="Lifetime_Group-logo_22.png" id="141" name="Google Shape;141;p17"/>
          <p:cNvPicPr preferRelativeResize="0"/>
          <p:nvPr/>
        </p:nvPicPr>
        <p:blipFill rotWithShape="1">
          <a:blip r:embed="rId4">
            <a:alphaModFix/>
          </a:blip>
          <a:srcRect b="0" l="0" r="0" t="0"/>
          <a:stretch/>
        </p:blipFill>
        <p:spPr>
          <a:xfrm>
            <a:off x="11505895" y="164592"/>
            <a:ext cx="421679" cy="502920"/>
          </a:xfrm>
          <a:prstGeom prst="rect">
            <a:avLst/>
          </a:prstGeom>
          <a:noFill/>
          <a:ln>
            <a:noFill/>
          </a:ln>
        </p:spPr>
      </p:pic>
      <p:sp>
        <p:nvSpPr>
          <p:cNvPr id="142" name="Google Shape;142;p17"/>
          <p:cNvSpPr txBox="1"/>
          <p:nvPr/>
        </p:nvSpPr>
        <p:spPr>
          <a:xfrm>
            <a:off x="274320" y="6473952"/>
            <a:ext cx="11643055" cy="2743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900" u="none" cap="none" strike="noStrike">
                <a:solidFill>
                  <a:srgbClr val="8A8F98"/>
                </a:solidFill>
                <a:latin typeface="Calibri"/>
                <a:ea typeface="Calibri"/>
                <a:cs typeface="Calibri"/>
                <a:sym typeface="Calibri"/>
              </a:rPr>
              <a:t>Copyright Risto Anton Päärni. All Rights Reserved.</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19"/>
          <p:cNvSpPr txBox="1"/>
          <p:nvPr/>
        </p:nvSpPr>
        <p:spPr>
          <a:xfrm>
            <a:off x="914400" y="292608"/>
            <a:ext cx="10362895" cy="82296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2800">
                <a:solidFill>
                  <a:srgbClr val="C0392B"/>
                </a:solidFill>
                <a:latin typeface="Calibri"/>
                <a:ea typeface="Calibri"/>
                <a:cs typeface="Calibri"/>
                <a:sym typeface="Calibri"/>
              </a:rPr>
              <a:t>3. RQ5 — kaksi avointa vaihtoehtoa</a:t>
            </a:r>
            <a:endParaRPr/>
          </a:p>
        </p:txBody>
      </p:sp>
      <p:sp>
        <p:nvSpPr>
          <p:cNvPr id="160" name="Google Shape;160;p19"/>
          <p:cNvSpPr txBox="1"/>
          <p:nvPr/>
        </p:nvSpPr>
        <p:spPr>
          <a:xfrm>
            <a:off x="731530" y="4946035"/>
            <a:ext cx="10911600" cy="1362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600"/>
              </a:spcAft>
              <a:buNone/>
            </a:pPr>
            <a:r>
              <a:rPr sz="1400" b="1">
                <a:solidFill>
                  <a:srgbClr val="2C3E50"/>
                </a:solidFill>
                <a:latin typeface="Calibri"/>
              </a:rPr>
              <a:t>A — alkuperäinen (lähetetty 14.7.2026):</a:t>
            </a:r>
            <a:endParaRPr/>
          </a:p>
          <a:p>
            <a:pPr>
              <a:spcAft>
                <a:spcPts val="600"/>
              </a:spcAft>
            </a:pPr>
            <a:r>
              <a:rPr sz="1300" b="0">
                <a:solidFill>
                  <a:srgbClr val="2C3E50"/>
                </a:solidFill>
                <a:latin typeface="Calibri"/>
              </a:rPr>
              <a:t>KYA-luottamuspisteytysmallin suunnittelu ja validointi avoimeksi konformanssistandardiksi EU-säännellyille toimialoille</a:t>
            </a:r>
          </a:p>
          <a:p>
            <a:pPr>
              <a:spcAft>
                <a:spcPts val="600"/>
              </a:spcAft>
            </a:pPr>
            <a:r>
              <a:rPr sz="1200" b="0">
                <a:solidFill>
                  <a:srgbClr val="7F8C8D"/>
                </a:solidFill>
                <a:latin typeface="Calibri"/>
              </a:rPr>
              <a:t>→ aineisto vastaa jo suunnittelupuoleen; kielteinen validointitulos olisi viivästys, ei tutkimuslöydös</a:t>
            </a:r>
          </a:p>
          <a:p>
            <a:pPr>
              <a:spcAft>
                <a:spcPts val="600"/>
              </a:spcAft>
            </a:pPr>
            <a:r>
              <a:rPr sz="1400" b="1">
                <a:solidFill>
                  <a:srgbClr val="2C3E50"/>
                </a:solidFill>
                <a:latin typeface="Calibri"/>
              </a:rPr>
              <a:t>B — RQ5 v3 (ehdotus):</a:t>
            </a:r>
          </a:p>
          <a:p>
            <a:pPr>
              <a:spcAft>
                <a:spcPts val="600"/>
              </a:spcAft>
            </a:pPr>
            <a:r>
              <a:rPr sz="1300" b="0">
                <a:solidFill>
                  <a:srgbClr val="2C3E50"/>
                </a:solidFill>
                <a:latin typeface="Calibri"/>
              </a:rPr>
              <a:t>Pitääkö klassinen spesifikaatio/standardi-erottelu, kun sertifioitava kohde muuttuu sertifioinnin jälkeen — ja onko neliporttikriteeri välttämätön ja riittävä kriteeri sille erolle?</a:t>
            </a:r>
          </a:p>
          <a:p>
            <a:pPr>
              <a:spcAft>
                <a:spcPts val="600"/>
              </a:spcAft>
            </a:pPr>
            <a:r>
              <a:rPr sz="1200" b="0">
                <a:solidFill>
                  <a:srgbClr val="7F8C8D"/>
                </a:solidFill>
                <a:latin typeface="Calibri"/>
              </a:rPr>
              <a:t>→ falsifioitava molempiin suuntiin; kumpikaan tulos ei riipu KYA:n kaupallisesta menestyksestä</a:t>
            </a:r>
          </a:p>
        </p:txBody>
      </p:sp>
      <p:pic>
        <p:nvPicPr>
          <p:cNvPr descr="firehorse-aegis-logo.png" id="161" name="Google Shape;161;p19"/>
          <p:cNvPicPr preferRelativeResize="0"/>
          <p:nvPr/>
        </p:nvPicPr>
        <p:blipFill rotWithShape="1">
          <a:blip r:embed="rId3">
            <a:alphaModFix/>
          </a:blip>
          <a:srcRect b="0" l="0" r="0" t="0"/>
          <a:stretch/>
        </p:blipFill>
        <p:spPr>
          <a:xfrm>
            <a:off x="228600" y="164592"/>
            <a:ext cx="502920" cy="502920"/>
          </a:xfrm>
          <a:prstGeom prst="rect">
            <a:avLst/>
          </a:prstGeom>
          <a:noFill/>
          <a:ln>
            <a:noFill/>
          </a:ln>
        </p:spPr>
      </p:pic>
      <p:pic>
        <p:nvPicPr>
          <p:cNvPr descr="Lifetime_Group-logo_22.png" id="162" name="Google Shape;162;p19"/>
          <p:cNvPicPr preferRelativeResize="0"/>
          <p:nvPr/>
        </p:nvPicPr>
        <p:blipFill rotWithShape="1">
          <a:blip r:embed="rId4">
            <a:alphaModFix/>
          </a:blip>
          <a:srcRect b="0" l="0" r="0" t="0"/>
          <a:stretch/>
        </p:blipFill>
        <p:spPr>
          <a:xfrm>
            <a:off x="11505895" y="164592"/>
            <a:ext cx="421679" cy="502920"/>
          </a:xfrm>
          <a:prstGeom prst="rect">
            <a:avLst/>
          </a:prstGeom>
          <a:noFill/>
          <a:ln>
            <a:noFill/>
          </a:ln>
        </p:spPr>
      </p:pic>
      <p:sp>
        <p:nvSpPr>
          <p:cNvPr id="163" name="Google Shape;163;p19"/>
          <p:cNvSpPr txBox="1"/>
          <p:nvPr/>
        </p:nvSpPr>
        <p:spPr>
          <a:xfrm>
            <a:off x="274320" y="6473952"/>
            <a:ext cx="11643055" cy="2743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900">
                <a:solidFill>
                  <a:srgbClr val="8A8F98"/>
                </a:solidFill>
                <a:latin typeface="Calibri"/>
                <a:ea typeface="Calibri"/>
                <a:cs typeface="Calibri"/>
                <a:sym typeface="Calibri"/>
              </a:rPr>
              <a:t>Copyright Risto Anton Päärni. All Rights Reserved.</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20"/>
          <p:cNvSpPr txBox="1"/>
          <p:nvPr/>
        </p:nvSpPr>
        <p:spPr>
          <a:xfrm>
            <a:off x="914400" y="292608"/>
            <a:ext cx="10362895" cy="82296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2800">
                <a:solidFill>
                  <a:srgbClr val="C0392B"/>
                </a:solidFill>
                <a:latin typeface="Calibri"/>
                <a:ea typeface="Calibri"/>
                <a:cs typeface="Calibri"/>
                <a:sym typeface="Calibri"/>
              </a:rPr>
              <a:t>4. Ydinargumentti — muuttuva sertifiointikohde</a:t>
            </a:r>
            <a:endParaRPr/>
          </a:p>
        </p:txBody>
      </p:sp>
      <p:sp>
        <p:nvSpPr>
          <p:cNvPr id="170" name="Google Shape;170;p20"/>
          <p:cNvSpPr txBox="1"/>
          <p:nvPr/>
        </p:nvSpPr>
        <p:spPr>
          <a:xfrm>
            <a:off x="640080" y="1280160"/>
            <a:ext cx="10911535" cy="4846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600"/>
              </a:spcAft>
              <a:buNone/>
            </a:pPr>
            <a:r>
              <a:rPr sz="1300" b="0">
                <a:solidFill>
                  <a:srgbClr val="2C3E50"/>
                </a:solidFill>
                <a:latin typeface="Calibri"/>
              </a:rPr>
              <a:t>Perinteinen tuotestandardi — esimerkiksi konepultin — sertifioi artefaktin, joka ei muutu sertifioinnin jälkeen.</a:t>
            </a:r>
            <a:endParaRPr/>
          </a:p>
          <a:p>
            <a:pPr>
              <a:spcAft>
                <a:spcPts val="600"/>
              </a:spcAft>
            </a:pPr>
            <a:r>
              <a:rPr sz="1400" b="1">
                <a:solidFill>
                  <a:srgbClr val="2C3E50"/>
                </a:solidFill>
                <a:latin typeface="Calibri"/>
              </a:rPr>
              <a:t>Agenttihallinnan standardi sertifioi käyttäytymistä, joka muuttuu jatkuvasti:</a:t>
            </a:r>
          </a:p>
          <a:p>
            <a:pPr>
              <a:spcAft>
                <a:spcPts val="600"/>
              </a:spcAft>
            </a:pPr>
            <a:r>
              <a:rPr sz="1300" b="0">
                <a:solidFill>
                  <a:srgbClr val="2C3E50"/>
                </a:solidFill>
                <a:latin typeface="Calibri"/>
              </a:rPr>
              <a:t>•  malli päivittyy · agenttipopulaatio oppii · mandaatit vaihtuvat</a:t>
            </a:r>
          </a:p>
          <a:p>
            <a:pPr>
              <a:spcAft>
                <a:spcPts val="600"/>
              </a:spcAft>
            </a:pPr>
            <a:r>
              <a:rPr sz="1300" b="0">
                <a:solidFill>
                  <a:srgbClr val="2C3E50"/>
                </a:solidFill>
                <a:latin typeface="Calibri"/>
              </a:rPr>
              <a:t>•  arvioijasta itsestään tulee liikkuva kohde arvioitavan rinnalla</a:t>
            </a:r>
          </a:p>
          <a:p>
            <a:pPr>
              <a:spcAft>
                <a:spcPts val="600"/>
              </a:spcAft>
            </a:pPr>
            <a:r>
              <a:rPr sz="1400" b="1">
                <a:solidFill>
                  <a:srgbClr val="2C3E50"/>
                </a:solidFill>
                <a:latin typeface="Calibri"/>
              </a:rPr>
              <a:t>Klassinen erottelu olettaa staattisen kohteen — kestääkö se liikkuvan?</a:t>
            </a:r>
          </a:p>
          <a:p>
            <a:pPr>
              <a:spcAft>
                <a:spcPts val="600"/>
              </a:spcAft>
            </a:pPr>
            <a:r>
              <a:rPr sz="1300" b="0">
                <a:solidFill>
                  <a:srgbClr val="2C3E50"/>
                </a:solidFill>
                <a:latin typeface="Calibri"/>
              </a:rPr>
              <a:t>Artefaktin tuotantonopeus on irronnut sen institutionaalisen legitimoinnin nopeudesta: spesifikaatio syntyy tunneissa, legitimointi etenee vuosissa.</a:t>
            </a:r>
          </a:p>
        </p:txBody>
      </p:sp>
      <p:pic>
        <p:nvPicPr>
          <p:cNvPr descr="firehorse-aegis-logo.png" id="171" name="Google Shape;171;p20"/>
          <p:cNvPicPr preferRelativeResize="0"/>
          <p:nvPr/>
        </p:nvPicPr>
        <p:blipFill rotWithShape="1">
          <a:blip r:embed="rId3">
            <a:alphaModFix/>
          </a:blip>
          <a:srcRect b="0" l="0" r="0" t="0"/>
          <a:stretch/>
        </p:blipFill>
        <p:spPr>
          <a:xfrm>
            <a:off x="228600" y="164592"/>
            <a:ext cx="502920" cy="502920"/>
          </a:xfrm>
          <a:prstGeom prst="rect">
            <a:avLst/>
          </a:prstGeom>
          <a:noFill/>
          <a:ln>
            <a:noFill/>
          </a:ln>
        </p:spPr>
      </p:pic>
      <p:pic>
        <p:nvPicPr>
          <p:cNvPr descr="Lifetime_Group-logo_22.png" id="172" name="Google Shape;172;p20"/>
          <p:cNvPicPr preferRelativeResize="0"/>
          <p:nvPr/>
        </p:nvPicPr>
        <p:blipFill rotWithShape="1">
          <a:blip r:embed="rId4">
            <a:alphaModFix/>
          </a:blip>
          <a:srcRect b="0" l="0" r="0" t="0"/>
          <a:stretch/>
        </p:blipFill>
        <p:spPr>
          <a:xfrm>
            <a:off x="11505895" y="164592"/>
            <a:ext cx="421679" cy="502920"/>
          </a:xfrm>
          <a:prstGeom prst="rect">
            <a:avLst/>
          </a:prstGeom>
          <a:noFill/>
          <a:ln>
            <a:noFill/>
          </a:ln>
        </p:spPr>
      </p:pic>
      <p:sp>
        <p:nvSpPr>
          <p:cNvPr id="173" name="Google Shape;173;p20"/>
          <p:cNvSpPr txBox="1"/>
          <p:nvPr/>
        </p:nvSpPr>
        <p:spPr>
          <a:xfrm>
            <a:off x="274320" y="6473952"/>
            <a:ext cx="11643055" cy="2743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900">
                <a:solidFill>
                  <a:srgbClr val="8A8F98"/>
                </a:solidFill>
                <a:latin typeface="Calibri"/>
                <a:ea typeface="Calibri"/>
                <a:cs typeface="Calibri"/>
                <a:sym typeface="Calibri"/>
              </a:rPr>
              <a:t>Copyright Risto Anton Päärni. All Rights Reserved.</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21"/>
          <p:cNvSpPr txBox="1"/>
          <p:nvPr/>
        </p:nvSpPr>
        <p:spPr>
          <a:xfrm>
            <a:off x="914400" y="292608"/>
            <a:ext cx="10362895" cy="82296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2800">
                <a:solidFill>
                  <a:srgbClr val="C0392B"/>
                </a:solidFill>
                <a:latin typeface="Calibri"/>
                <a:ea typeface="Calibri"/>
                <a:cs typeface="Calibri"/>
                <a:sym typeface="Calibri"/>
              </a:rPr>
              <a:t>5. Rajaus — tutkimuskohde vs. kaupallinen IP</a:t>
            </a:r>
            <a:endParaRPr/>
          </a:p>
        </p:txBody>
      </p:sp>
      <p:sp>
        <p:nvSpPr>
          <p:cNvPr id="180" name="Google Shape;180;p21"/>
          <p:cNvSpPr txBox="1"/>
          <p:nvPr/>
        </p:nvSpPr>
        <p:spPr>
          <a:xfrm>
            <a:off x="640080" y="1280160"/>
            <a:ext cx="10911535" cy="4846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600"/>
              </a:spcAft>
              <a:buNone/>
            </a:pPr>
            <a:r>
              <a:rPr sz="1400" b="1">
                <a:solidFill>
                  <a:srgbClr val="2C3E50"/>
                </a:solidFill>
                <a:latin typeface="Calibri"/>
              </a:rPr>
              <a:t>Väitöstutkimuksen kohde:</a:t>
            </a:r>
            <a:endParaRPr/>
          </a:p>
          <a:p>
            <a:pPr>
              <a:spcAft>
                <a:spcPts val="600"/>
              </a:spcAft>
            </a:pPr>
            <a:r>
              <a:rPr sz="1300" b="0">
                <a:solidFill>
                  <a:srgbClr val="2C3E50"/>
                </a:solidFill>
                <a:latin typeface="Calibri"/>
              </a:rPr>
              <a:t>•  Avoin KYA-spesifikaatio (Apache 2.0): ATS-kaava, credential-muodot, gate-semantiikka, neliporttikriteeri</a:t>
            </a:r>
          </a:p>
          <a:p>
            <a:pPr>
              <a:spcAft>
                <a:spcPts val="600"/>
              </a:spcAft>
            </a:pPr>
            <a:r>
              <a:rPr sz="1400" b="1">
                <a:solidFill>
                  <a:srgbClr val="2C3E50"/>
                </a:solidFill>
                <a:latin typeface="Calibri"/>
              </a:rPr>
              <a:t>Lifetime Oy:n kaupallinen IP (ei väitöskirjassa):</a:t>
            </a:r>
          </a:p>
          <a:p>
            <a:pPr>
              <a:spcAft>
                <a:spcPts val="600"/>
              </a:spcAft>
            </a:pPr>
            <a:r>
              <a:rPr sz="1300" b="0">
                <a:solidFill>
                  <a:srgbClr val="2C3E50"/>
                </a:solidFill>
                <a:latin typeface="Calibri"/>
              </a:rPr>
              <a:t>•  Telemetriaputki · Lifetime World Model · DWS skilled agents (myöhemmin fyysisten agenttien Lifetime Fleet) · Situation Room &amp; Control Room</a:t>
            </a:r>
          </a:p>
          <a:p>
            <a:pPr>
              <a:spcAft>
                <a:spcPts val="600"/>
              </a:spcAft>
            </a:pPr>
            <a:r>
              <a:rPr sz="1300" b="0">
                <a:solidFill>
                  <a:srgbClr val="2C3E50"/>
                </a:solidFill>
                <a:latin typeface="Calibri"/>
              </a:rPr>
              <a:t>DWS IQ ja käynnissä olevat yhteydet (mm. KTH/TECoSA) ovat tutkimuksen validointiympäristö ja aineistolähde — eivät tutkimuskysymys.</a:t>
            </a:r>
          </a:p>
          <a:p>
            <a:pPr>
              <a:spcAft>
                <a:spcPts val="600"/>
              </a:spcAft>
            </a:pPr>
            <a:r>
              <a:rPr sz="1200" b="0">
                <a:solidFill>
                  <a:srgbClr val="7F8C8D"/>
                </a:solidFill>
                <a:latin typeface="Calibri"/>
              </a:rPr>
              <a:t>Väitöskirja ei riipu siitä, saavuttaako KYA standardiaseman tai miten kaupallistaminen etenee.</a:t>
            </a:r>
          </a:p>
        </p:txBody>
      </p:sp>
      <p:pic>
        <p:nvPicPr>
          <p:cNvPr descr="firehorse-aegis-logo.png" id="181" name="Google Shape;181;p21"/>
          <p:cNvPicPr preferRelativeResize="0"/>
          <p:nvPr/>
        </p:nvPicPr>
        <p:blipFill rotWithShape="1">
          <a:blip r:embed="rId3">
            <a:alphaModFix/>
          </a:blip>
          <a:srcRect b="0" l="0" r="0" t="0"/>
          <a:stretch/>
        </p:blipFill>
        <p:spPr>
          <a:xfrm>
            <a:off x="228600" y="164592"/>
            <a:ext cx="502920" cy="502920"/>
          </a:xfrm>
          <a:prstGeom prst="rect">
            <a:avLst/>
          </a:prstGeom>
          <a:noFill/>
          <a:ln>
            <a:noFill/>
          </a:ln>
        </p:spPr>
      </p:pic>
      <p:pic>
        <p:nvPicPr>
          <p:cNvPr descr="Lifetime_Group-logo_22.png" id="182" name="Google Shape;182;p21"/>
          <p:cNvPicPr preferRelativeResize="0"/>
          <p:nvPr/>
        </p:nvPicPr>
        <p:blipFill rotWithShape="1">
          <a:blip r:embed="rId4">
            <a:alphaModFix/>
          </a:blip>
          <a:srcRect b="0" l="0" r="0" t="0"/>
          <a:stretch/>
        </p:blipFill>
        <p:spPr>
          <a:xfrm>
            <a:off x="11505895" y="164592"/>
            <a:ext cx="421679" cy="502920"/>
          </a:xfrm>
          <a:prstGeom prst="rect">
            <a:avLst/>
          </a:prstGeom>
          <a:noFill/>
          <a:ln>
            <a:noFill/>
          </a:ln>
        </p:spPr>
      </p:pic>
      <p:sp>
        <p:nvSpPr>
          <p:cNvPr id="183" name="Google Shape;183;p21"/>
          <p:cNvSpPr txBox="1"/>
          <p:nvPr/>
        </p:nvSpPr>
        <p:spPr>
          <a:xfrm>
            <a:off x="274320" y="6473952"/>
            <a:ext cx="11643055" cy="2743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900">
                <a:solidFill>
                  <a:srgbClr val="8A8F98"/>
                </a:solidFill>
                <a:latin typeface="Calibri"/>
                <a:ea typeface="Calibri"/>
                <a:cs typeface="Calibri"/>
                <a:sym typeface="Calibri"/>
              </a:rPr>
              <a:t>Copyright Risto Anton Päärni. All Rights Reserved.</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22"/>
          <p:cNvSpPr txBox="1"/>
          <p:nvPr/>
        </p:nvSpPr>
        <p:spPr>
          <a:xfrm>
            <a:off x="914400" y="292608"/>
            <a:ext cx="10362895" cy="82296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2800">
                <a:solidFill>
                  <a:srgbClr val="C0392B"/>
                </a:solidFill>
                <a:latin typeface="Calibri"/>
                <a:ea typeface="Calibri"/>
                <a:cs typeface="Calibri"/>
                <a:sym typeface="Calibri"/>
              </a:rPr>
              <a:t>6. Kysymys ja ehdotettu seuraava askel</a:t>
            </a:r>
            <a:endParaRPr/>
          </a:p>
        </p:txBody>
      </p:sp>
      <p:sp>
        <p:nvSpPr>
          <p:cNvPr id="190" name="Google Shape;190;p22"/>
          <p:cNvSpPr txBox="1"/>
          <p:nvPr/>
        </p:nvSpPr>
        <p:spPr>
          <a:xfrm>
            <a:off x="640080" y="1280160"/>
            <a:ext cx="10911535" cy="4846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600"/>
              </a:spcAft>
              <a:buNone/>
            </a:pPr>
            <a:r>
              <a:rPr sz="1500" b="1">
                <a:solidFill>
                  <a:srgbClr val="C0392B"/>
                </a:solidFill>
                <a:latin typeface="Calibri"/>
              </a:rPr>
              <a:t>Onko tämä uudelleenmuotoilu mielestäsi tutkimuksellisesti vahvempi vai heikompi kuin alkuperäinen?</a:t>
            </a:r>
            <a:endParaRPr/>
          </a:p>
          <a:p>
            <a:pPr>
              <a:spcAft>
                <a:spcPts val="600"/>
              </a:spcAft>
            </a:pPr>
            <a:r>
              <a:rPr sz="1300" b="0">
                <a:solidFill>
                  <a:srgbClr val="2C3E50"/>
                </a:solidFill>
                <a:latin typeface="Calibri"/>
              </a:rPr>
              <a:t>Jos alkuperäinen on parempi, se pysyy.</a:t>
            </a:r>
          </a:p>
          <a:p>
            <a:pPr>
              <a:spcAft>
                <a:spcPts val="600"/>
              </a:spcAft>
            </a:pPr>
            <a:r>
              <a:rPr sz="1400" b="1">
                <a:solidFill>
                  <a:srgbClr val="2C3E50"/>
                </a:solidFill>
                <a:latin typeface="Calibri"/>
              </a:rPr>
              <a:t>Ehdotettu seuraava askel:</a:t>
            </a:r>
          </a:p>
          <a:p>
            <a:pPr>
              <a:spcAft>
                <a:spcPts val="600"/>
              </a:spcAft>
            </a:pPr>
            <a:r>
              <a:rPr sz="1300" b="0">
                <a:solidFill>
                  <a:srgbClr val="2C3E50"/>
                </a:solidFill>
                <a:latin typeface="Calibri"/>
              </a:rPr>
              <a:t>•  Kahden viikon kuluessa: yhden sivun tarkennettu tutkimussuunnitelma valitun muotoilun ympärille, kommentoitavaksi</a:t>
            </a:r>
          </a:p>
          <a:p>
            <a:pPr>
              <a:spcAft>
                <a:spcPts val="600"/>
              </a:spcAft>
            </a:pPr>
            <a:r>
              <a:rPr sz="1300" b="0">
                <a:solidFill>
                  <a:srgbClr val="2C3E50"/>
                </a:solidFill>
                <a:latin typeface="Calibri"/>
              </a:rPr>
              <a:t>•  Sen jälkeen: LUT:n tohtoriohjelman muodollisen hakuprosessin käynnistys</a:t>
            </a:r>
          </a:p>
          <a:p>
            <a:pPr>
              <a:spcAft>
                <a:spcPts val="600"/>
              </a:spcAft>
            </a:pPr>
            <a:r>
              <a:rPr sz="1400" b="1">
                <a:solidFill>
                  <a:srgbClr val="2C3E50"/>
                </a:solidFill>
                <a:latin typeface="Calibri"/>
              </a:rPr>
              <a:t>Tavoite tänään: yksi arvio suunnasta ja yksi sovittu seuraava askel.</a:t>
            </a:r>
          </a:p>
        </p:txBody>
      </p:sp>
      <p:pic>
        <p:nvPicPr>
          <p:cNvPr descr="firehorse-aegis-logo.png" id="191" name="Google Shape;191;p22"/>
          <p:cNvPicPr preferRelativeResize="0"/>
          <p:nvPr/>
        </p:nvPicPr>
        <p:blipFill rotWithShape="1">
          <a:blip r:embed="rId3">
            <a:alphaModFix/>
          </a:blip>
          <a:srcRect b="0" l="0" r="0" t="0"/>
          <a:stretch/>
        </p:blipFill>
        <p:spPr>
          <a:xfrm>
            <a:off x="228600" y="164592"/>
            <a:ext cx="502920" cy="502920"/>
          </a:xfrm>
          <a:prstGeom prst="rect">
            <a:avLst/>
          </a:prstGeom>
          <a:noFill/>
          <a:ln>
            <a:noFill/>
          </a:ln>
        </p:spPr>
      </p:pic>
      <p:pic>
        <p:nvPicPr>
          <p:cNvPr descr="Lifetime_Group-logo_22.png" id="192" name="Google Shape;192;p22"/>
          <p:cNvPicPr preferRelativeResize="0"/>
          <p:nvPr/>
        </p:nvPicPr>
        <p:blipFill rotWithShape="1">
          <a:blip r:embed="rId4">
            <a:alphaModFix/>
          </a:blip>
          <a:srcRect b="0" l="0" r="0" t="0"/>
          <a:stretch/>
        </p:blipFill>
        <p:spPr>
          <a:xfrm>
            <a:off x="11505895" y="164592"/>
            <a:ext cx="421679" cy="502920"/>
          </a:xfrm>
          <a:prstGeom prst="rect">
            <a:avLst/>
          </a:prstGeom>
          <a:noFill/>
          <a:ln>
            <a:noFill/>
          </a:ln>
        </p:spPr>
      </p:pic>
      <p:sp>
        <p:nvSpPr>
          <p:cNvPr id="193" name="Google Shape;193;p22"/>
          <p:cNvSpPr txBox="1"/>
          <p:nvPr/>
        </p:nvSpPr>
        <p:spPr>
          <a:xfrm>
            <a:off x="274320" y="6473952"/>
            <a:ext cx="11643055" cy="2743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900">
                <a:solidFill>
                  <a:srgbClr val="8A8F98"/>
                </a:solidFill>
                <a:latin typeface="Calibri"/>
                <a:ea typeface="Calibri"/>
                <a:cs typeface="Calibri"/>
                <a:sym typeface="Calibri"/>
              </a:rPr>
              <a:t>Copyright Risto Anton Päärni. All Rights Reserved.</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